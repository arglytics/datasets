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67" r:id="rId5"/>
    <p:sldId id="268" r:id="rId6"/>
    <p:sldId id="269" r:id="rId7"/>
    <p:sldId id="260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052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Methods for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Agenda-Setting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Agnes Namyalo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1216152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G" dirty="0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11521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Media Attention and Congressional Attention to ESA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21440" cy="777240"/>
          </a:xfrm>
          <a:prstGeom prst="rect">
            <a:avLst/>
          </a:prstGeom>
          <a:solidFill>
            <a:srgbClr val="D6E8F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1138428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media coverage of ESA events in month t predict congressional attention in month t+1?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5577840" cy="5029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47088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Articles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55778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404872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Documents: </a:t>
            </a: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documents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" y="2871216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 </a:t>
            </a: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1984 – 2025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" y="3337560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Categories: </a:t>
            </a: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ESA meta-categories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" y="3803904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Variable: </a:t>
            </a: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news_t = count of listing articles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G" dirty="0"/>
          </a:p>
        </p:txBody>
      </p:sp>
      <p:sp>
        <p:nvSpPr>
          <p:cNvPr id="15" name="Text 13"/>
          <p:cNvSpPr/>
          <p:nvPr/>
        </p:nvSpPr>
        <p:spPr>
          <a:xfrm>
            <a:off x="6263640" y="1847088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Congressional documents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2331720"/>
            <a:ext cx="55778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404872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Documents: </a:t>
            </a: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documents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2871216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 </a:t>
            </a: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1995 – 2025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28232" y="3337560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Categories: </a:t>
            </a: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ESA meta-categories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28232" y="3803904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Variable: </a:t>
            </a: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cong_t = count of listing documents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" y="4526280"/>
            <a:ext cx="11521440" cy="5029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544568"/>
            <a:ext cx="11521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kind of data do I have?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5029199"/>
            <a:ext cx="11521440" cy="1694329"/>
          </a:xfrm>
          <a:prstGeom prst="rect">
            <a:avLst/>
          </a:prstGeom>
          <a:solidFill>
            <a:srgbClr val="FFFFFF"/>
          </a:solidFill>
          <a:ln w="19050">
            <a:solidFill>
              <a:srgbClr val="BA751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5038344"/>
            <a:ext cx="11521440" cy="1685184"/>
          </a:xfrm>
          <a:prstGeom prst="rect">
            <a:avLst/>
          </a:prstGeom>
          <a:solidFill>
            <a:srgbClr val="F0F0F0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G" dirty="0"/>
          </a:p>
        </p:txBody>
      </p:sp>
      <p:sp>
        <p:nvSpPr>
          <p:cNvPr id="28" name="Text 26"/>
          <p:cNvSpPr/>
          <p:nvPr/>
        </p:nvSpPr>
        <p:spPr>
          <a:xfrm>
            <a:off x="320040" y="5065776"/>
            <a:ext cx="11521440" cy="1657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endParaRPr lang="en-UG" dirty="0"/>
          </a:p>
          <a:p>
            <a:endParaRPr lang="en-UG" dirty="0"/>
          </a:p>
          <a:p>
            <a:endParaRPr lang="en-UG" dirty="0"/>
          </a:p>
          <a:p>
            <a:endParaRPr lang="en-UG" dirty="0"/>
          </a:p>
          <a:p>
            <a:endParaRPr lang="en-UG" dirty="0"/>
          </a:p>
          <a:p>
            <a:endParaRPr lang="en-UG" dirty="0"/>
          </a:p>
          <a:p>
            <a:pPr marL="171450" indent="-171450">
              <a:buFont typeface="Wingdings" pitchFamily="2" charset="2"/>
              <a:buChar char="Ø"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Counts, not measurements, e.g.,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cong_t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only be 0, 1, 2, 3, 5 — never 0.3 or −0.1</a:t>
            </a:r>
          </a:p>
          <a:p>
            <a:endParaRPr lang="en-US" sz="120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 typeface="Wingdings" pitchFamily="2" charset="2"/>
              <a:buChar char="Ø"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Non-negative by definition, e.g., 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month cannot have −1 congressional documents</a:t>
            </a:r>
          </a:p>
          <a:p>
            <a:endParaRPr lang="en-US" sz="120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 typeface="Wingdings" pitchFamily="2" charset="2"/>
              <a:buChar char="Ø"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Heavily zero-inflated, e.g.,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359 of 371 months (96.8%) have </a:t>
            </a:r>
            <a:r>
              <a:rPr lang="en-US" sz="12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cong_t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</a:t>
            </a:r>
            <a:endParaRPr lang="en-US" sz="1200" dirty="0"/>
          </a:p>
          <a:p>
            <a:pPr marL="171450" indent="-171450">
              <a:buFont typeface="Wingdings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itchFamily="2" charset="2"/>
              <a:buChar char="Ø"/>
            </a:pPr>
            <a:endParaRPr lang="en-US" sz="1200" dirty="0"/>
          </a:p>
          <a:p>
            <a:pPr marL="171450" indent="-171450">
              <a:buFont typeface="Wingdings" pitchFamily="2" charset="2"/>
              <a:buChar char="Ø"/>
            </a:pPr>
            <a:endParaRPr lang="en-US" sz="12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 typeface="Wingdings" pitchFamily="2" charset="2"/>
              <a:buChar char="Ø"/>
            </a:pPr>
            <a:endParaRPr lang="en-US" sz="1200" dirty="0"/>
          </a:p>
          <a:p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1931988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008"/>
            <a:ext cx="11430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the Response Variable — Congressional Listing Documents (cong_t)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97840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Summary Output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88998" y="986103"/>
            <a:ext cx="3116490" cy="38404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15498" y="1018107"/>
            <a:ext cx="3116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Summary Statistics</a:t>
            </a:r>
            <a:endParaRPr lang="en-US" sz="1300" dirty="0"/>
          </a:p>
        </p:txBody>
      </p:sp>
      <p:sp>
        <p:nvSpPr>
          <p:cNvPr id="68" name="Shape 65"/>
          <p:cNvSpPr/>
          <p:nvPr/>
        </p:nvSpPr>
        <p:spPr>
          <a:xfrm>
            <a:off x="274320" y="5103431"/>
            <a:ext cx="11631168" cy="1708849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65760" y="5199944"/>
            <a:ext cx="11448288" cy="159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96.8% structural zeros  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&gt; Mean 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Right-skew (skewness=11.27) </a:t>
            </a:r>
          </a:p>
          <a:p>
            <a:pPr marL="0" indent="0">
              <a:buNone/>
            </a:pPr>
            <a:endParaRPr lang="en-US" sz="115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cong_t</a:t>
            </a: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violates every assumption of OLS. Count regression is required.</a:t>
            </a:r>
            <a:endParaRPr lang="en-US" sz="1150" dirty="0"/>
          </a:p>
        </p:txBody>
      </p: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ACAFC9B8-20B8-BA66-08F5-437017BB6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154915"/>
              </p:ext>
            </p:extLst>
          </p:nvPr>
        </p:nvGraphicFramePr>
        <p:xfrm>
          <a:off x="8788998" y="1370151"/>
          <a:ext cx="311649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245">
                  <a:extLst>
                    <a:ext uri="{9D8B030D-6E8A-4147-A177-3AD203B41FA5}">
                      <a16:colId xmlns:a16="http://schemas.microsoft.com/office/drawing/2014/main" val="3055304742"/>
                    </a:ext>
                  </a:extLst>
                </a:gridCol>
                <a:gridCol w="1558245">
                  <a:extLst>
                    <a:ext uri="{9D8B030D-6E8A-4147-A177-3AD203B41FA5}">
                      <a16:colId xmlns:a16="http://schemas.microsoft.com/office/drawing/2014/main" val="2327813982"/>
                    </a:ext>
                  </a:extLst>
                </a:gridCol>
              </a:tblGrid>
              <a:tr h="278712"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954280"/>
                  </a:ext>
                </a:extLst>
              </a:tr>
              <a:tr h="278712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(months)</a:t>
                      </a:r>
                      <a:endParaRPr lang="en-UG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480001"/>
                  </a:ext>
                </a:extLst>
              </a:tr>
              <a:tr h="278712"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346676"/>
                  </a:ext>
                </a:extLst>
              </a:tr>
              <a:tr h="278712"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710785"/>
                  </a:ext>
                </a:extLst>
              </a:tr>
              <a:tr h="278712"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 /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2.2483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467835"/>
                  </a:ext>
                </a:extLst>
              </a:tr>
              <a:tr h="278712"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037800"/>
                  </a:ext>
                </a:extLst>
              </a:tr>
              <a:tr h="278712"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572459"/>
                  </a:ext>
                </a:extLst>
              </a:tr>
              <a:tr h="278712"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36113"/>
                  </a:ext>
                </a:extLst>
              </a:tr>
              <a:tr h="278712"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Zeros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359 (96.8%)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128458"/>
                  </a:ext>
                </a:extLst>
              </a:tr>
              <a:tr h="278712"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Non-zeros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(3.2%)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670736"/>
                  </a:ext>
                </a:extLst>
              </a:tr>
              <a:tr h="278712"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Skewness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24404"/>
                  </a:ext>
                </a:extLst>
              </a:tr>
            </a:tbl>
          </a:graphicData>
        </a:graphic>
      </p:graphicFrame>
      <p:pic>
        <p:nvPicPr>
          <p:cNvPr id="74" name="Picture 73">
            <a:extLst>
              <a:ext uri="{FF2B5EF4-FFF2-40B4-BE49-F238E27FC236}">
                <a16:creationId xmlns:a16="http://schemas.microsoft.com/office/drawing/2014/main" id="{9E4E67EF-3561-3183-6406-26101CA49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12" y="1343630"/>
            <a:ext cx="4957447" cy="3366605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31FF187E-3C10-B50F-1040-4DE89B040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920" y="1123034"/>
            <a:ext cx="3482380" cy="35872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"/>
            <a:ext cx="12009120" cy="6400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Solution: Use of Generalized Linear Models (GLM)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Approaches that allow the dependent variable to follow a different distribution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" y="713232"/>
            <a:ext cx="347472" cy="14173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7B1D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13232"/>
            <a:ext cx="3474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8912" y="713232"/>
            <a:ext cx="1234440" cy="14173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713232"/>
            <a:ext cx="123444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/>
              <a:t>Poisson
Regression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73352" y="713232"/>
            <a:ext cx="10335768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4792" y="713232"/>
            <a:ext cx="7196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log(λ) = α + β₄×news_lag + β₃×cong_lag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73351" y="1060704"/>
            <a:ext cx="10335767" cy="347472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64792" y="1060704"/>
            <a:ext cx="7196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λ = exp(α + β₄×news_lag + β₃×cong_lag)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73352" y="1408176"/>
            <a:ext cx="10335766" cy="722376"/>
          </a:xfrm>
          <a:prstGeom prst="rect">
            <a:avLst/>
          </a:prstGeom>
          <a:solidFill>
            <a:srgbClr val="FAE8E8"/>
          </a:solidFill>
          <a:ln w="12700">
            <a:solidFill>
              <a:srgbClr val="E0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1408176"/>
            <a:ext cx="71597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Predictions are always non-negative. exp(β₄)=2.04 means each extra news article doubles the expected count. But Var=Mean assumption still violated (Var/Mean=2.25).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" y="2212848"/>
            <a:ext cx="347472" cy="426110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A7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" y="2212848"/>
            <a:ext cx="347472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38912" y="2212848"/>
            <a:ext cx="1234440" cy="426110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212848"/>
            <a:ext cx="1234440" cy="2816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/>
              <a:t>Quasi
Poisson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673351" y="2212848"/>
            <a:ext cx="10335765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64792" y="2212848"/>
            <a:ext cx="7196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log(λ) = α + β₄×news_lag + β₃×cong_lag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73352" y="2542032"/>
            <a:ext cx="10335764" cy="329184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64792" y="2542032"/>
            <a:ext cx="7196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Var(cong_t) = φ × Mean(cong_t)          where φ = dispersion parameter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73352" y="2871216"/>
            <a:ext cx="10335764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64792" y="2871216"/>
            <a:ext cx="102443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</a:rPr>
              <a:t>Dispersion parameter:  </a:t>
            </a:r>
            <a:r>
              <a:rPr lang="en-US" sz="1150" dirty="0">
                <a:solidFill>
                  <a:srgbClr val="1A1A1A"/>
                </a:solidFill>
              </a:rPr>
              <a:t>φ = Σ[(cong_t − λ̂)² / λ̂] / (n − p)      = </a:t>
            </a:r>
            <a:r>
              <a:rPr lang="en-US" sz="1150" b="1" dirty="0"/>
              <a:t>2.50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673351" y="3218688"/>
            <a:ext cx="10335764" cy="822960"/>
          </a:xfrm>
          <a:prstGeom prst="rect">
            <a:avLst/>
          </a:prstGeom>
          <a:solidFill>
            <a:srgbClr val="EAF4EA"/>
          </a:solidFill>
          <a:ln w="12700">
            <a:solidFill>
              <a:srgbClr val="AACC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83080" y="32552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/>
              <a:t>Where: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83080" y="3438144"/>
            <a:ext cx="35524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/>
              <a:t>cong_tᵢ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1A1A1A"/>
                </a:solidFill>
              </a:rPr>
              <a:t>= observed congressional document count in month 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72684" y="3438144"/>
            <a:ext cx="35524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/>
              <a:t>λ̂ᵢ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1A1A1A"/>
                </a:solidFill>
              </a:rPr>
              <a:t>= fitted (expected) Poisson count in month 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83080" y="3611880"/>
            <a:ext cx="35524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/>
              <a:t>n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1A1A1A"/>
                </a:solidFill>
              </a:rPr>
              <a:t>= number of observations (371 months)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72684" y="3611880"/>
            <a:ext cx="35524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/>
              <a:t>p</a:t>
            </a:r>
            <a:r>
              <a:rPr lang="en-US" sz="950" dirty="0">
                <a:solidFill>
                  <a:srgbClr val="1A1A1A"/>
                </a:solidFill>
              </a:rPr>
              <a:t> = number of estimated parameters (3: α, β₄, β₃)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83080" y="3785616"/>
            <a:ext cx="35524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/>
              <a:t>n − p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1A1A1A"/>
                </a:solidFill>
              </a:rPr>
              <a:t>= degrees of freedom (368)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72684" y="3785616"/>
            <a:ext cx="35524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/>
              <a:t>Σ</a:t>
            </a:r>
            <a:r>
              <a:rPr lang="en-US" sz="950" dirty="0">
                <a:solidFill>
                  <a:srgbClr val="1A1A1A"/>
                </a:solidFill>
              </a:rPr>
              <a:t> = sum over all months 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673351" y="4041648"/>
            <a:ext cx="10335763" cy="347472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64792" y="4041648"/>
            <a:ext cx="7196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</a:rPr>
              <a:t>SE correction:  </a:t>
            </a:r>
            <a:r>
              <a:rPr lang="en-US" sz="1150" dirty="0">
                <a:solidFill>
                  <a:srgbClr val="1A1A1A"/>
                </a:solidFill>
              </a:rPr>
              <a:t>SE_quasi = SE_poisson × √φ = SE_poisson × √2.50 = SE_poisson × </a:t>
            </a:r>
            <a:r>
              <a:rPr lang="en-US" sz="1150" b="1" dirty="0">
                <a:solidFill>
                  <a:srgbClr val="CC0000"/>
                </a:solidFill>
              </a:rPr>
              <a:t>1.581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673351" y="4389120"/>
            <a:ext cx="10335763" cy="2084832"/>
          </a:xfrm>
          <a:prstGeom prst="rect">
            <a:avLst/>
          </a:prstGeom>
          <a:solidFill>
            <a:srgbClr val="E6F4F4"/>
          </a:solidFill>
          <a:ln w="12700">
            <a:solidFill>
              <a:srgbClr val="AA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83080" y="4389120"/>
            <a:ext cx="7159752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Poisson model, but allowing the dispersion parameter φ to be ≠ 1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Variance = φ × Mean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φ = 1  → standard Poisson (assumed)     </a:t>
            </a:r>
            <a:r>
              <a:rPr lang="en-US" sz="1100" b="1" dirty="0">
                <a:solidFill>
                  <a:srgbClr val="CC0000"/>
                </a:solidFill>
              </a:rPr>
              <a:t>φ = 2.50</a:t>
            </a:r>
            <a:r>
              <a:rPr lang="en-US" sz="1100" dirty="0">
                <a:solidFill>
                  <a:srgbClr val="1A1A1A"/>
                </a:solidFill>
              </a:rPr>
              <a:t>  → variance is 2.5× what Poisson assumes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</a:rPr>
              <a:t>Every SE inflated by √2.50 = 1.581  →  more honest, conservative p-values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Solution: Use of Generalized Linear Models (GLM)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1188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Approaches that allow the dependent variable to follow a different distribution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777240"/>
            <a:ext cx="411480" cy="539496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77240"/>
            <a:ext cx="41148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777240"/>
            <a:ext cx="1965960" cy="539496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77240"/>
            <a:ext cx="1965960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</a:rPr>
              <a:t>Negative
Binomial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68880" y="777240"/>
            <a:ext cx="946404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777240"/>
            <a:ext cx="918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congress_t  ~  NegBin(μ, θ)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9464040" cy="36576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143000"/>
            <a:ext cx="918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log(μ) = α + β₄×news_lag + β₃×cong_lag     →     μ = exp(α + β₄×news_lag + β₃×cong_lag)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1508760"/>
            <a:ext cx="946404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508760"/>
            <a:ext cx="918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Variance = μ + μ²/θ</a:t>
            </a:r>
            <a:r>
              <a:rPr lang="en-US" sz="1200" dirty="0">
                <a:solidFill>
                  <a:srgbClr val="1A1A1A"/>
                </a:solidFill>
              </a:rPr>
              <a:t>          (θ = dispersion parameter, estimated by maximum likelihood)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1874520"/>
            <a:ext cx="9464040" cy="777240"/>
          </a:xfrm>
          <a:prstGeom prst="rect">
            <a:avLst/>
          </a:prstGeom>
          <a:solidFill>
            <a:srgbClr val="EAF4EA"/>
          </a:solidFill>
          <a:ln w="12700">
            <a:solidFill>
              <a:srgbClr val="AACC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920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Where: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112264"/>
            <a:ext cx="45491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μ</a:t>
            </a:r>
            <a:r>
              <a:rPr lang="en-US" sz="950" dirty="0">
                <a:solidFill>
                  <a:srgbClr val="1A1A1A"/>
                </a:solidFill>
              </a:rPr>
              <a:t> = expected count (same as λ in Poisson) — fitted from the model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38060" y="2112264"/>
            <a:ext cx="45491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θ</a:t>
            </a:r>
            <a:r>
              <a:rPr lang="en-US" sz="950" dirty="0">
                <a:solidFill>
                  <a:srgbClr val="1A1A1A"/>
                </a:solidFill>
              </a:rPr>
              <a:t> = dispersion parameter (also written k or r) — estimated by MLE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06040" y="2281428"/>
            <a:ext cx="45491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μ²/θ</a:t>
            </a:r>
            <a:r>
              <a:rPr lang="en-US" sz="950" dirty="0">
                <a:solidFill>
                  <a:srgbClr val="1A1A1A"/>
                </a:solidFill>
              </a:rPr>
              <a:t> = extra variance beyond Poisson — grows quadratically with μ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38060" y="2281428"/>
            <a:ext cx="45491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Γ(·)</a:t>
            </a:r>
            <a:r>
              <a:rPr lang="en-US" sz="950" dirty="0">
                <a:solidFill>
                  <a:srgbClr val="1A1A1A"/>
                </a:solidFill>
              </a:rPr>
              <a:t> = gamma function — generalisation of factorial used in the PMF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06040" y="2450592"/>
            <a:ext cx="45491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β₄</a:t>
            </a:r>
            <a:r>
              <a:rPr lang="en-US" sz="950" dirty="0">
                <a:solidFill>
                  <a:srgbClr val="1A1A1A"/>
                </a:solidFill>
              </a:rPr>
              <a:t> = news_lag coefficient  →  exp(0.486) = 1.63×  (each article multiplies expected count)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38060" y="2450592"/>
            <a:ext cx="45491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β₃</a:t>
            </a:r>
            <a:r>
              <a:rPr lang="en-US" sz="950" dirty="0">
                <a:solidFill>
                  <a:srgbClr val="1A1A1A"/>
                </a:solidFill>
              </a:rPr>
              <a:t> = cong_lag coefficient  →  exp(0.625) = 1.87×  (each prior doc multiplies expected count)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68880" y="2651760"/>
            <a:ext cx="9464040" cy="45720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65176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θ → ∞ :</a:t>
            </a:r>
            <a:r>
              <a:rPr lang="en-US" sz="1100" dirty="0">
                <a:solidFill>
                  <a:srgbClr val="1A1A1A"/>
                </a:solidFill>
              </a:rPr>
              <a:t>  Variance → μ  (collapses to Poisson, thin tails)     </a:t>
            </a:r>
            <a:r>
              <a:rPr lang="en-US" sz="1100" b="1" dirty="0">
                <a:solidFill>
                  <a:srgbClr val="1A1A1A"/>
                </a:solidFill>
              </a:rPr>
              <a:t>θ → 0 :</a:t>
            </a:r>
            <a:r>
              <a:rPr lang="en-US" sz="1100" dirty="0">
                <a:solidFill>
                  <a:srgbClr val="1A1A1A"/>
                </a:solidFill>
              </a:rPr>
              <a:t>  Variance &gt;&gt; μ  (fat tails, extreme counts more likely)     Your data: θ = </a:t>
            </a:r>
            <a:r>
              <a:rPr lang="en-US" sz="1100" b="1" dirty="0">
                <a:solidFill>
                  <a:srgbClr val="CC0000"/>
                </a:solidFill>
              </a:rPr>
              <a:t>0.058</a:t>
            </a:r>
            <a:r>
              <a:rPr lang="en-US" sz="1100" dirty="0">
                <a:solidFill>
                  <a:srgbClr val="1A1A1A"/>
                </a:solidFill>
              </a:rPr>
              <a:t>  →  very fat tails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3108960"/>
            <a:ext cx="9464040" cy="10058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3154680"/>
            <a:ext cx="918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</a:rPr>
              <a:t>Variance comparison at overall mean (μ = 0.046):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3355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</a:rPr>
              <a:t>Model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34840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</a:rPr>
              <a:t>Formula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35240" y="33558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</a:rPr>
              <a:t>Predicted Variance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38360" y="335584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</a:rPr>
              <a:t>vs Actual (0.103)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06040" y="3538728"/>
            <a:ext cx="18288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Poisson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34840" y="3538728"/>
            <a:ext cx="3200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Var = 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3538728"/>
            <a:ext cx="21031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0.046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738360" y="3538728"/>
            <a:ext cx="23317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Underestimates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06040" y="3707892"/>
            <a:ext cx="18288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Quasi-Poisson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34840" y="3707892"/>
            <a:ext cx="3200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Var = 2.50 × 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35240" y="3707892"/>
            <a:ext cx="21031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0.115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738360" y="3707892"/>
            <a:ext cx="23317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Slightly overshoots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06040" y="3877056"/>
            <a:ext cx="18288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Negative Binomial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34840" y="3877056"/>
            <a:ext cx="3200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C0000"/>
                </a:solidFill>
              </a:rPr>
              <a:t>Var = μ + μ²/0.058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35240" y="3877056"/>
            <a:ext cx="21031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C0000"/>
                </a:solidFill>
              </a:rPr>
              <a:t>0.082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738360" y="3877056"/>
            <a:ext cx="23317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C0000"/>
                </a:solidFill>
              </a:rPr>
              <a:t>Closest to actual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68880" y="4114800"/>
            <a:ext cx="9464040" cy="2057400"/>
          </a:xfrm>
          <a:prstGeom prst="rect">
            <a:avLst/>
          </a:prstGeom>
          <a:solidFill>
            <a:srgbClr val="E8F5E9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4187952"/>
            <a:ext cx="9189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Negative Binomial adds a dispersion parameter θ allowing Variance &gt; Mean — using a quadratic variance function that better fits data with extreme counts.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Unlike Quasi-Poisson (linear correction applied after Poisson fitting), NB is a </a:t>
            </a:r>
            <a:r>
              <a:rPr lang="en-US" sz="1050" b="1" dirty="0">
                <a:solidFill>
                  <a:srgbClr val="1A1A1A"/>
                </a:solidFill>
              </a:rPr>
              <a:t>full maximum likelihood re-estimation</a:t>
            </a:r>
            <a:r>
              <a:rPr lang="en-US" sz="1050" dirty="0">
                <a:solidFill>
                  <a:srgbClr val="1A1A1A"/>
                </a:solidFill>
              </a:rPr>
              <a:t> — the coefficients themselves change.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β₄ shifts from 0.714 (Poisson) → 0.486 (NB): NB redistributes weight away from the January 2025 spike (cong_t = 5), which Poisson treats as near-impossible.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Limitation: </a:t>
            </a:r>
            <a:r>
              <a:rPr lang="en-US" sz="1050" i="1" dirty="0">
                <a:solidFill>
                  <a:srgbClr val="1A1A1A"/>
                </a:solidFill>
              </a:rPr>
              <a:t>NB still cannot separate structural zeros (Congress never crosses the threshold) from sampling zeros (probability was low but non-zero) — this is why the Hurdle model is needed on top.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188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Solution: Use of Generalized Linear Models (GLM)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1188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Approaches that allow the dependent variable to follow a different distribution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777240"/>
            <a:ext cx="411480" cy="58064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777240"/>
            <a:ext cx="411480" cy="580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777240"/>
            <a:ext cx="1965960" cy="58064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77240"/>
            <a:ext cx="1965960" cy="5806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7E"/>
                </a:solidFill>
              </a:rPr>
              <a:t>Hurdle
Model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68880" y="777240"/>
            <a:ext cx="9464040" cy="402336"/>
          </a:xfrm>
          <a:prstGeom prst="rect">
            <a:avLst/>
          </a:prstGeom>
          <a:solidFill>
            <a:srgbClr val="E8EAF6"/>
          </a:solidFill>
          <a:ln w="12700">
            <a:solidFill>
              <a:srgbClr val="BBBB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777240"/>
            <a:ext cx="9189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</a:rPr>
              <a:t>Why needed: </a:t>
            </a:r>
            <a:r>
              <a:rPr lang="en-US" sz="1100" dirty="0">
                <a:solidFill>
                  <a:srgbClr val="1A1A1A"/>
                </a:solidFill>
              </a:rPr>
              <a:t>97% of months are zero — but zeros come from </a:t>
            </a:r>
            <a:r>
              <a:rPr lang="en-US" sz="1100" b="1" dirty="0">
                <a:solidFill>
                  <a:srgbClr val="1A1A1A"/>
                </a:solidFill>
              </a:rPr>
              <a:t>two separate processes</a:t>
            </a:r>
            <a:r>
              <a:rPr lang="en-US" sz="1100" dirty="0">
                <a:solidFill>
                  <a:srgbClr val="1A1A1A"/>
                </a:solidFill>
              </a:rPr>
              <a:t> that no single-part model can separate.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179576"/>
            <a:ext cx="4695444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179576"/>
            <a:ext cx="45582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064"/>
                </a:solidFill>
              </a:rPr>
              <a:t>Sampling zero: </a:t>
            </a:r>
            <a:r>
              <a:rPr lang="en-US" sz="1000" dirty="0">
                <a:solidFill>
                  <a:srgbClr val="1A1A1A"/>
                </a:solidFill>
              </a:rPr>
              <a:t>news &amp; prior activity are low → expected count near 0 → zero drawn by chance from the count process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37476" y="1179576"/>
            <a:ext cx="4695444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AACC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74636" y="1179576"/>
            <a:ext cx="45582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Structural zero: </a:t>
            </a:r>
            <a:r>
              <a:rPr lang="en-US" sz="1000" dirty="0">
                <a:solidFill>
                  <a:srgbClr val="1A1A1A"/>
                </a:solidFill>
              </a:rPr>
              <a:t>ESA listing never crosses the congressional attention threshold — silence regardless of news coverage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1709928"/>
            <a:ext cx="9464040" cy="27432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709928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 1 — Binary Hurdle (Logistic Regression):  Does Congress cross the attention threshold?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1984248"/>
            <a:ext cx="946404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984248"/>
            <a:ext cx="9189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P(cong_t &gt; 0) = logistic(α₀ + β₄₀×news_lag + β₃₀×cong_lag)</a:t>
            </a:r>
            <a:r>
              <a:rPr lang="en-US" sz="1200" dirty="0">
                <a:solidFill>
                  <a:srgbClr val="1A1A1A"/>
                </a:solidFill>
              </a:rPr>
              <a:t>          where logistic(x) = exp(x) / (1 + exp(x))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68880" y="2331720"/>
            <a:ext cx="9464040" cy="420624"/>
          </a:xfrm>
          <a:prstGeom prst="rect">
            <a:avLst/>
          </a:prstGeom>
          <a:solidFill>
            <a:srgbClr val="EDE7F6"/>
          </a:solidFill>
          <a:ln w="12700">
            <a:solidFill>
              <a:srgbClr val="CCB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3500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6064"/>
                </a:solidFill>
              </a:rPr>
              <a:t>Where: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06040" y="2514600"/>
            <a:ext cx="45491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α₀</a:t>
            </a:r>
            <a:r>
              <a:rPr lang="en-US" sz="900" dirty="0">
                <a:solidFill>
                  <a:srgbClr val="1A1A1A"/>
                </a:solidFill>
              </a:rPr>
              <a:t> = baseline log-odds of any congressional activity (when both lags = 0)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38060" y="2514600"/>
            <a:ext cx="45491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β₄₀</a:t>
            </a:r>
            <a:r>
              <a:rPr lang="en-US" sz="900" dirty="0">
                <a:solidFill>
                  <a:srgbClr val="1A1A1A"/>
                </a:solidFill>
              </a:rPr>
              <a:t> = how each news article changes the log-odds of Congress crossing the attention threshold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06040" y="2674620"/>
            <a:ext cx="45491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β₃₀</a:t>
            </a:r>
            <a:r>
              <a:rPr lang="en-US" sz="900" dirty="0">
                <a:solidFill>
                  <a:srgbClr val="1A1A1A"/>
                </a:solidFill>
              </a:rPr>
              <a:t> = how prior congressional activity changes the log-odds of any activity this month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38060" y="2674620"/>
            <a:ext cx="45491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logistic(·)</a:t>
            </a:r>
            <a:r>
              <a:rPr lang="en-US" sz="900" dirty="0">
                <a:solidFill>
                  <a:srgbClr val="1A1A1A"/>
                </a:solidFill>
              </a:rPr>
              <a:t> = converts log-odds to probability (always between 0 and 1)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2990088"/>
            <a:ext cx="946404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2990088"/>
            <a:ext cx="918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 2 — Count Component (Negative Binomial):  How many documents given Congress IS active?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68880" y="3264408"/>
            <a:ext cx="946404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AACC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264408"/>
            <a:ext cx="9189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</a:rPr>
              <a:t>cong_t | cong_t &gt; 0  ~  NegBin(μ, θ)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</a:rPr>
              <a:t>log(μ) = α₁ + β₄₁×news_lag + β₃₁×cong_lag</a:t>
            </a:r>
            <a:r>
              <a:rPr lang="en-US" sz="1150" dirty="0">
                <a:solidFill>
                  <a:srgbClr val="1A1A1A"/>
                </a:solidFill>
              </a:rPr>
              <a:t>     (estimated from the 12 active months only — 359 structural zeros excluded)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68880" y="3767328"/>
            <a:ext cx="9464040" cy="420624"/>
          </a:xfrm>
          <a:prstGeom prst="rect">
            <a:avLst/>
          </a:prstGeom>
          <a:solidFill>
            <a:srgbClr val="EDE7F6"/>
          </a:solidFill>
          <a:ln w="12700">
            <a:solidFill>
              <a:srgbClr val="CCBB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3785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Where: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606040" y="3959352"/>
            <a:ext cx="45491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α₁</a:t>
            </a:r>
            <a:r>
              <a:rPr lang="en-US" sz="900" dirty="0">
                <a:solidFill>
                  <a:srgbClr val="1A1A1A"/>
                </a:solidFill>
              </a:rPr>
              <a:t> = baseline log expected count when Congress IS active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38060" y="3959352"/>
            <a:ext cx="45491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β₄₁</a:t>
            </a:r>
            <a:r>
              <a:rPr lang="en-US" sz="900" dirty="0">
                <a:solidFill>
                  <a:srgbClr val="1A1A1A"/>
                </a:solidFill>
              </a:rPr>
              <a:t> = how each news article multiplies the expected count given Congress is already active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06040" y="4119372"/>
            <a:ext cx="45491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β₃₁</a:t>
            </a:r>
            <a:r>
              <a:rPr lang="en-US" sz="900" dirty="0">
                <a:solidFill>
                  <a:srgbClr val="1A1A1A"/>
                </a:solidFill>
              </a:rPr>
              <a:t> = persistence — prior activity effect on count intensity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38060" y="4119372"/>
            <a:ext cx="45491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θ</a:t>
            </a:r>
            <a:r>
              <a:rPr lang="en-US" sz="900" dirty="0">
                <a:solidFill>
                  <a:srgbClr val="1A1A1A"/>
                </a:solidFill>
              </a:rPr>
              <a:t> = NB dispersion parameter — fat tails for extreme months like January 2025 (cong_t = 5)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68880" y="4425696"/>
            <a:ext cx="9464040" cy="987552"/>
          </a:xfrm>
          <a:prstGeom prst="rect">
            <a:avLst/>
          </a:prstGeom>
          <a:solidFill>
            <a:srgbClr val="E8EAF6"/>
          </a:solidFill>
          <a:ln w="12700">
            <a:solidFill>
              <a:srgbClr val="BBBB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6040" y="4480560"/>
            <a:ext cx="9189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Key insight — two coefficients for news_lag: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β₄₀</a:t>
            </a:r>
            <a:r>
              <a:rPr lang="en-US" sz="1000" dirty="0">
                <a:solidFill>
                  <a:srgbClr val="1A1A1A"/>
                </a:solidFill>
              </a:rPr>
              <a:t> (Part 1): Does media coverage increase the probability that ESA listing crosses the congressional attention threshold?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β₄₁</a:t>
            </a:r>
            <a:r>
              <a:rPr lang="en-US" sz="1000" dirty="0">
                <a:solidFill>
                  <a:srgbClr val="1A1A1A"/>
                </a:solidFill>
              </a:rPr>
              <a:t> (Part 2): Given Congress is already engaged, does more media coverage produce more documents?
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</a:rPr>
              <a:t>No other model in the progression produces two separate coefficients — OLS, Poisson, QP, and NB all give one. The Hurdle model answers both the threshold question and the intensity question simultaneously.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the Three Model Curves — Why the Curve Shape Matters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11521440" cy="3657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4663440"/>
            <a:ext cx="58521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126480" y="473659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lambda shift graph matters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126480" y="5157216"/>
            <a:ext cx="557784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baseline (news_lag=0):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0.039  (near zero)
</a:t>
            </a: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news_lag=3 (April 1999):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0.336  (7x higher)
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zero remains most likely outcome even at news_lag=3.
</a:t>
            </a: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episodic agenda-setting — rare, concentrated bursts.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12161520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4920"/>
            <a:ext cx="411480" cy="17830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and Recommended Path Forward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57200" cy="868680"/>
          </a:xfrm>
          <a:prstGeom prst="rect">
            <a:avLst/>
          </a:prstGeom>
          <a:solidFill>
            <a:srgbClr val="1D6B3A"/>
          </a:solidFill>
          <a:ln w="12700">
            <a:solidFill>
              <a:srgbClr val="1D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95528" y="1005840"/>
            <a:ext cx="10881360" cy="868680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1D6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042416"/>
            <a:ext cx="10607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β₄ is positive in both OLS and Poisson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408176"/>
            <a:ext cx="10607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coverage last month predicts congressional activity this month — confirmed by both models. Each extra news article roughly doubles the expected count (exp(β₄)=2.04).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993392"/>
            <a:ext cx="457200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305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95528" y="1993392"/>
            <a:ext cx="10881360" cy="868680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029968"/>
            <a:ext cx="10607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is misspecified — must be rejected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395728"/>
            <a:ext cx="10607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predicts 0.242 congressional documents — an impossible fraction. The wrong model produces untrustworthy results regardless of what it finds.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980944"/>
            <a:ext cx="457200" cy="8686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1810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95528" y="2980944"/>
            <a:ext cx="10881360" cy="868680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017520"/>
            <a:ext cx="10607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Overdispersion confirmed (Var/Mean = 2.25)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3383280"/>
            <a:ext cx="10607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assumes Var=Mean. This is violated. Standard Poisson underestimates uncertainty and assigns unrealistically low probability to extreme months.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968496"/>
            <a:ext cx="45720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0565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95528" y="3968496"/>
            <a:ext cx="10881360" cy="868680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005072"/>
            <a:ext cx="10607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 structural zeros require hurdle 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370832"/>
            <a:ext cx="10607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Congress is silent in 97% of months. A hurdle model separates structural silence from the count process — the right model for this data structure.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51937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Model Path: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 →  Poisson (baseline)  →  Negative Binomial (overdispersion)  →  Hurdle Model (structural zeros)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task: understand each model well enough to justify the choice in the proposal defence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2727</TotalTime>
  <Words>1685</Words>
  <Application>Microsoft Macintosh PowerPoint</Application>
  <PresentationFormat>Widescreen</PresentationFormat>
  <Paragraphs>177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Methods — ESA Agenda-Setting Analysis</dc:title>
  <dc:subject>PptxGenJS Presentation</dc:subject>
  <dc:creator>PptxGenJS</dc:creator>
  <cp:lastModifiedBy>Agnes Namyalo</cp:lastModifiedBy>
  <cp:revision>3</cp:revision>
  <dcterms:created xsi:type="dcterms:W3CDTF">2026-06-01T18:57:47Z</dcterms:created>
  <dcterms:modified xsi:type="dcterms:W3CDTF">2026-06-03T18:27:17Z</dcterms:modified>
</cp:coreProperties>
</file>