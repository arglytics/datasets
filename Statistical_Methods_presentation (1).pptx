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63" r:id="rId4"/>
    <p:sldId id="267" r:id="rId5"/>
    <p:sldId id="268" r:id="rId6"/>
    <p:sldId id="269"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varScale="1">
        <p:scale>
          <a:sx n="119" d="100"/>
          <a:sy n="119" d="100"/>
        </p:scale>
        <p:origin x="216"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5052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E3A5F"/>
          </a:solidFill>
          <a:ln w="12700">
            <a:solidFill>
              <a:srgbClr val="1E3A5F"/>
            </a:solidFill>
            <a:prstDash val="solid"/>
          </a:ln>
        </p:spPr>
      </p:sp>
      <p:sp>
        <p:nvSpPr>
          <p:cNvPr id="5" name="Text 3"/>
          <p:cNvSpPr/>
          <p:nvPr/>
        </p:nvSpPr>
        <p:spPr>
          <a:xfrm>
            <a:off x="548640" y="1005840"/>
            <a:ext cx="10972800" cy="2194560"/>
          </a:xfrm>
          <a:prstGeom prst="rect">
            <a:avLst/>
          </a:prstGeom>
          <a:noFill/>
          <a:ln/>
        </p:spPr>
        <p:txBody>
          <a:bodyPr wrap="square" rtlCol="0" anchor="ctr"/>
          <a:lstStyle/>
          <a:p>
            <a:pPr marL="0" indent="0">
              <a:buNone/>
            </a:pPr>
            <a:r>
              <a:rPr lang="en-US" sz="4000" b="1" dirty="0">
                <a:solidFill>
                  <a:srgbClr val="FFFFFF"/>
                </a:solidFill>
                <a:latin typeface="Arial" pitchFamily="34" charset="0"/>
                <a:ea typeface="Arial" pitchFamily="34" charset="-122"/>
                <a:cs typeface="Arial" pitchFamily="34" charset="-120"/>
              </a:rPr>
              <a:t>Statistical Methods for</a:t>
            </a:r>
            <a:endParaRPr lang="en-US" sz="4000" dirty="0"/>
          </a:p>
          <a:p>
            <a:pPr marL="0" indent="0">
              <a:buNone/>
            </a:pPr>
            <a:r>
              <a:rPr lang="en-US" sz="4000" b="1" dirty="0">
                <a:solidFill>
                  <a:srgbClr val="FFFFFF"/>
                </a:solidFill>
                <a:latin typeface="Arial" pitchFamily="34" charset="0"/>
                <a:ea typeface="Arial" pitchFamily="34" charset="-122"/>
                <a:cs typeface="Arial" pitchFamily="34" charset="-120"/>
              </a:rPr>
              <a:t>ESA Agenda-Setting Analysis</a:t>
            </a:r>
            <a:endParaRPr lang="en-US" sz="4000" dirty="0"/>
          </a:p>
        </p:txBody>
      </p:sp>
      <p:sp>
        <p:nvSpPr>
          <p:cNvPr id="6" name="Text 4"/>
          <p:cNvSpPr/>
          <p:nvPr/>
        </p:nvSpPr>
        <p:spPr>
          <a:xfrm>
            <a:off x="548640" y="3291840"/>
            <a:ext cx="10972800" cy="731520"/>
          </a:xfrm>
          <a:prstGeom prst="rect">
            <a:avLst/>
          </a:prstGeom>
          <a:noFill/>
          <a:ln/>
        </p:spPr>
        <p:txBody>
          <a:bodyPr wrap="square" rtlCol="0" anchor="ctr"/>
          <a:lstStyle/>
          <a:p>
            <a:pPr marL="0" indent="0">
              <a:buNone/>
            </a:pPr>
            <a:r>
              <a:rPr lang="en-US" sz="1700" i="1" dirty="0">
                <a:solidFill>
                  <a:srgbClr val="CADCFC"/>
                </a:solidFill>
                <a:latin typeface="Arial" pitchFamily="34" charset="0"/>
                <a:ea typeface="Arial" pitchFamily="34" charset="-122"/>
                <a:cs typeface="Arial" pitchFamily="34" charset="-120"/>
              </a:rPr>
              <a:t>Agnes Namyalo</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45720"/>
            <a:ext cx="12161520" cy="6858000"/>
          </a:xfrm>
          <a:prstGeom prst="rect">
            <a:avLst/>
          </a:prstGeom>
          <a:solidFill>
            <a:srgbClr val="F4F6F9"/>
          </a:solidFill>
          <a:ln w="12700">
            <a:solidFill>
              <a:srgbClr val="F4F6F9"/>
            </a:solidFill>
            <a:prstDash val="solid"/>
          </a:ln>
        </p:spPr>
      </p:sp>
      <p:sp>
        <p:nvSpPr>
          <p:cNvPr id="3" name="Shape 1"/>
          <p:cNvSpPr/>
          <p:nvPr/>
        </p:nvSpPr>
        <p:spPr>
          <a:xfrm>
            <a:off x="0" y="0"/>
            <a:ext cx="12161520" cy="822960"/>
          </a:xfrm>
          <a:prstGeom prst="rect">
            <a:avLst/>
          </a:prstGeom>
          <a:solidFill>
            <a:srgbClr val="1E3A5F"/>
          </a:solidFill>
          <a:ln w="12700">
            <a:solidFill>
              <a:srgbClr val="1E3A5F"/>
            </a:solidFill>
            <a:prstDash val="solid"/>
          </a:ln>
        </p:spPr>
        <p:txBody>
          <a:bodyPr/>
          <a:lstStyle/>
          <a:p>
            <a:endParaRPr lang="en-UG" dirty="0"/>
          </a:p>
        </p:txBody>
      </p:sp>
      <p:sp>
        <p:nvSpPr>
          <p:cNvPr id="4" name="Text 2"/>
          <p:cNvSpPr/>
          <p:nvPr/>
        </p:nvSpPr>
        <p:spPr>
          <a:xfrm>
            <a:off x="320040" y="45720"/>
            <a:ext cx="11521440" cy="731520"/>
          </a:xfrm>
          <a:prstGeom prst="rect">
            <a:avLst/>
          </a:prstGeom>
          <a:noFill/>
          <a:ln/>
        </p:spPr>
        <p:txBody>
          <a:bodyPr wrap="square" lIns="0" tIns="0" rIns="0" bIns="0" rtlCol="0" anchor="ctr"/>
          <a:lstStyle/>
          <a:p>
            <a:pPr marL="0" indent="0">
              <a:buNone/>
            </a:pPr>
            <a:r>
              <a:rPr lang="en-US" sz="2100" b="1" dirty="0">
                <a:solidFill>
                  <a:srgbClr val="FFFFFF"/>
                </a:solidFill>
                <a:latin typeface="Arial" pitchFamily="34" charset="0"/>
                <a:ea typeface="Arial" pitchFamily="34" charset="-122"/>
                <a:cs typeface="Arial" pitchFamily="34" charset="-120"/>
              </a:rPr>
              <a:t>Case Study — Media Attention and Congressional Attention to ESA</a:t>
            </a:r>
            <a:endParaRPr lang="en-US" sz="2100" dirty="0"/>
          </a:p>
        </p:txBody>
      </p:sp>
      <p:sp>
        <p:nvSpPr>
          <p:cNvPr id="5" name="Shape 3"/>
          <p:cNvSpPr/>
          <p:nvPr/>
        </p:nvSpPr>
        <p:spPr>
          <a:xfrm>
            <a:off x="320040" y="914400"/>
            <a:ext cx="11521440" cy="777240"/>
          </a:xfrm>
          <a:prstGeom prst="rect">
            <a:avLst/>
          </a:prstGeom>
          <a:solidFill>
            <a:srgbClr val="D6E8F0"/>
          </a:solidFill>
          <a:ln w="25400">
            <a:solidFill>
              <a:srgbClr val="028090"/>
            </a:solidFill>
            <a:prstDash val="solid"/>
          </a:ln>
        </p:spPr>
      </p:sp>
      <p:sp>
        <p:nvSpPr>
          <p:cNvPr id="6" name="Text 4"/>
          <p:cNvSpPr/>
          <p:nvPr/>
        </p:nvSpPr>
        <p:spPr>
          <a:xfrm>
            <a:off x="457200" y="932688"/>
            <a:ext cx="11384280" cy="749808"/>
          </a:xfrm>
          <a:prstGeom prst="rect">
            <a:avLst/>
          </a:prstGeom>
          <a:noFill/>
          <a:ln/>
        </p:spPr>
        <p:txBody>
          <a:bodyPr wrap="square" lIns="38100" tIns="38100" rIns="38100" bIns="38100" rtlCol="0" anchor="ctr"/>
          <a:lstStyle/>
          <a:p>
            <a:pPr marL="0" indent="0">
              <a:buNone/>
            </a:pPr>
            <a:r>
              <a:rPr lang="en-US" sz="1450" b="1" dirty="0">
                <a:solidFill>
                  <a:srgbClr val="1E3A5F"/>
                </a:solidFill>
                <a:latin typeface="Arial" pitchFamily="34" charset="0"/>
                <a:ea typeface="Arial" pitchFamily="34" charset="-122"/>
                <a:cs typeface="Arial" pitchFamily="34" charset="-120"/>
              </a:rPr>
              <a:t>Question: </a:t>
            </a:r>
            <a:r>
              <a:rPr lang="en-US" sz="1450" dirty="0">
                <a:solidFill>
                  <a:srgbClr val="1E293B"/>
                </a:solidFill>
                <a:latin typeface="Arial" pitchFamily="34" charset="0"/>
                <a:ea typeface="Arial" pitchFamily="34" charset="-122"/>
                <a:cs typeface="Arial" pitchFamily="34" charset="-120"/>
              </a:rPr>
              <a:t>Does media coverage of ESA events in month t predict congressional attention in month t+1?</a:t>
            </a:r>
            <a:endParaRPr lang="en-US" sz="1450" dirty="0"/>
          </a:p>
        </p:txBody>
      </p:sp>
      <p:sp>
        <p:nvSpPr>
          <p:cNvPr id="7" name="Shape 5"/>
          <p:cNvSpPr/>
          <p:nvPr/>
        </p:nvSpPr>
        <p:spPr>
          <a:xfrm>
            <a:off x="320040" y="1828800"/>
            <a:ext cx="5577840" cy="502920"/>
          </a:xfrm>
          <a:prstGeom prst="rect">
            <a:avLst/>
          </a:prstGeom>
          <a:solidFill>
            <a:schemeClr val="accent1">
              <a:lumMod val="50000"/>
            </a:schemeClr>
          </a:solidFill>
          <a:ln w="12700">
            <a:solidFill>
              <a:srgbClr val="028090"/>
            </a:solidFill>
            <a:prstDash val="solid"/>
          </a:ln>
        </p:spPr>
      </p:sp>
      <p:sp>
        <p:nvSpPr>
          <p:cNvPr id="8" name="Text 6"/>
          <p:cNvSpPr/>
          <p:nvPr/>
        </p:nvSpPr>
        <p:spPr>
          <a:xfrm>
            <a:off x="320040" y="1847088"/>
            <a:ext cx="557784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News Articles</a:t>
            </a:r>
            <a:endParaRPr lang="en-US" sz="1500" dirty="0"/>
          </a:p>
        </p:txBody>
      </p:sp>
      <p:sp>
        <p:nvSpPr>
          <p:cNvPr id="9" name="Shape 7"/>
          <p:cNvSpPr/>
          <p:nvPr/>
        </p:nvSpPr>
        <p:spPr>
          <a:xfrm>
            <a:off x="320040" y="2331720"/>
            <a:ext cx="5577840" cy="2103120"/>
          </a:xfrm>
          <a:prstGeom prst="rect">
            <a:avLst/>
          </a:prstGeom>
          <a:solidFill>
            <a:srgbClr val="FFFFFF"/>
          </a:solidFill>
          <a:ln w="19050">
            <a:solidFill>
              <a:srgbClr val="028090"/>
            </a:solidFill>
            <a:prstDash val="solid"/>
          </a:ln>
        </p:spPr>
      </p:sp>
      <p:sp>
        <p:nvSpPr>
          <p:cNvPr id="10" name="Text 8"/>
          <p:cNvSpPr/>
          <p:nvPr/>
        </p:nvSpPr>
        <p:spPr>
          <a:xfrm>
            <a:off x="484632" y="2404872"/>
            <a:ext cx="5212080" cy="420624"/>
          </a:xfrm>
          <a:prstGeom prst="rect">
            <a:avLst/>
          </a:prstGeom>
          <a:noFill/>
          <a:ln/>
        </p:spPr>
        <p:txBody>
          <a:bodyPr wrap="square" rtlCol="0" anchor="ctr"/>
          <a:lstStyle/>
          <a:p>
            <a:pPr marL="0" indent="0">
              <a:buNone/>
            </a:pPr>
            <a:r>
              <a:rPr lang="en-US" sz="1250" b="1" dirty="0">
                <a:solidFill>
                  <a:srgbClr val="1E293B"/>
                </a:solidFill>
                <a:latin typeface="Arial" pitchFamily="34" charset="0"/>
                <a:ea typeface="Arial" pitchFamily="34" charset="-122"/>
                <a:cs typeface="Arial" pitchFamily="34" charset="-120"/>
              </a:rPr>
              <a:t>Documents: </a:t>
            </a:r>
            <a:r>
              <a:rPr lang="en-US" sz="1250" dirty="0">
                <a:solidFill>
                  <a:srgbClr val="1E293B"/>
                </a:solidFill>
                <a:latin typeface="Arial" pitchFamily="34" charset="0"/>
                <a:ea typeface="Arial" pitchFamily="34" charset="-122"/>
                <a:cs typeface="Arial" pitchFamily="34" charset="-120"/>
              </a:rPr>
              <a:t>300 documents</a:t>
            </a:r>
            <a:endParaRPr lang="en-US" sz="1250" dirty="0"/>
          </a:p>
        </p:txBody>
      </p:sp>
      <p:sp>
        <p:nvSpPr>
          <p:cNvPr id="11" name="Text 9"/>
          <p:cNvSpPr/>
          <p:nvPr/>
        </p:nvSpPr>
        <p:spPr>
          <a:xfrm>
            <a:off x="484632" y="2871216"/>
            <a:ext cx="5212080" cy="420624"/>
          </a:xfrm>
          <a:prstGeom prst="rect">
            <a:avLst/>
          </a:prstGeom>
          <a:noFill/>
          <a:ln/>
        </p:spPr>
        <p:txBody>
          <a:bodyPr wrap="square" rtlCol="0" anchor="ctr"/>
          <a:lstStyle/>
          <a:p>
            <a:pPr marL="0" indent="0">
              <a:buNone/>
            </a:pPr>
            <a:r>
              <a:rPr lang="en-US" sz="1250" b="1" dirty="0">
                <a:solidFill>
                  <a:srgbClr val="1E293B"/>
                </a:solidFill>
                <a:latin typeface="Arial" pitchFamily="34" charset="0"/>
                <a:ea typeface="Arial" pitchFamily="34" charset="-122"/>
                <a:cs typeface="Arial" pitchFamily="34" charset="-120"/>
              </a:rPr>
              <a:t>Period: </a:t>
            </a:r>
            <a:r>
              <a:rPr lang="en-US" sz="1250" dirty="0">
                <a:solidFill>
                  <a:srgbClr val="1E293B"/>
                </a:solidFill>
                <a:latin typeface="Arial" pitchFamily="34" charset="0"/>
                <a:ea typeface="Arial" pitchFamily="34" charset="-122"/>
                <a:cs typeface="Arial" pitchFamily="34" charset="-120"/>
              </a:rPr>
              <a:t>1984 – 2025</a:t>
            </a:r>
            <a:endParaRPr lang="en-US" sz="1250" dirty="0"/>
          </a:p>
        </p:txBody>
      </p:sp>
      <p:sp>
        <p:nvSpPr>
          <p:cNvPr id="12" name="Text 10"/>
          <p:cNvSpPr/>
          <p:nvPr/>
        </p:nvSpPr>
        <p:spPr>
          <a:xfrm>
            <a:off x="484632" y="3337560"/>
            <a:ext cx="5212080" cy="420624"/>
          </a:xfrm>
          <a:prstGeom prst="rect">
            <a:avLst/>
          </a:prstGeom>
          <a:noFill/>
          <a:ln/>
        </p:spPr>
        <p:txBody>
          <a:bodyPr wrap="square" rtlCol="0" anchor="ctr"/>
          <a:lstStyle/>
          <a:p>
            <a:pPr marL="0" indent="0">
              <a:buNone/>
            </a:pPr>
            <a:r>
              <a:rPr lang="en-US" sz="1250" b="1" dirty="0">
                <a:solidFill>
                  <a:srgbClr val="1E293B"/>
                </a:solidFill>
                <a:latin typeface="Arial" pitchFamily="34" charset="0"/>
                <a:ea typeface="Arial" pitchFamily="34" charset="-122"/>
                <a:cs typeface="Arial" pitchFamily="34" charset="-120"/>
              </a:rPr>
              <a:t>Categories: </a:t>
            </a:r>
            <a:r>
              <a:rPr lang="en-US" sz="1250" dirty="0">
                <a:solidFill>
                  <a:srgbClr val="1E293B"/>
                </a:solidFill>
                <a:latin typeface="Arial" pitchFamily="34" charset="0"/>
                <a:ea typeface="Arial" pitchFamily="34" charset="-122"/>
                <a:cs typeface="Arial" pitchFamily="34" charset="-120"/>
              </a:rPr>
              <a:t>10 ESA meta-categories</a:t>
            </a:r>
            <a:endParaRPr lang="en-US" sz="1250" dirty="0"/>
          </a:p>
        </p:txBody>
      </p:sp>
      <p:sp>
        <p:nvSpPr>
          <p:cNvPr id="13" name="Text 11"/>
          <p:cNvSpPr/>
          <p:nvPr/>
        </p:nvSpPr>
        <p:spPr>
          <a:xfrm>
            <a:off x="484632" y="3803904"/>
            <a:ext cx="5212080" cy="420624"/>
          </a:xfrm>
          <a:prstGeom prst="rect">
            <a:avLst/>
          </a:prstGeom>
          <a:noFill/>
          <a:ln/>
        </p:spPr>
        <p:txBody>
          <a:bodyPr wrap="square" rtlCol="0" anchor="ctr"/>
          <a:lstStyle/>
          <a:p>
            <a:pPr marL="0" indent="0">
              <a:buNone/>
            </a:pPr>
            <a:r>
              <a:rPr lang="en-US" sz="1250" b="1" dirty="0">
                <a:solidFill>
                  <a:srgbClr val="1E293B"/>
                </a:solidFill>
                <a:latin typeface="Arial" pitchFamily="34" charset="0"/>
                <a:ea typeface="Arial" pitchFamily="34" charset="-122"/>
                <a:cs typeface="Arial" pitchFamily="34" charset="-120"/>
              </a:rPr>
              <a:t>Variable: </a:t>
            </a:r>
            <a:r>
              <a:rPr lang="en-US" sz="1250" dirty="0">
                <a:solidFill>
                  <a:srgbClr val="1E293B"/>
                </a:solidFill>
                <a:latin typeface="Arial" pitchFamily="34" charset="0"/>
                <a:ea typeface="Arial" pitchFamily="34" charset="-122"/>
                <a:cs typeface="Arial" pitchFamily="34" charset="-120"/>
              </a:rPr>
              <a:t>news_t = count of listing articles</a:t>
            </a:r>
            <a:endParaRPr lang="en-US" sz="1250" dirty="0"/>
          </a:p>
        </p:txBody>
      </p:sp>
      <p:sp>
        <p:nvSpPr>
          <p:cNvPr id="14" name="Shape 12"/>
          <p:cNvSpPr/>
          <p:nvPr/>
        </p:nvSpPr>
        <p:spPr>
          <a:xfrm>
            <a:off x="6263640" y="1828800"/>
            <a:ext cx="5577840" cy="502920"/>
          </a:xfrm>
          <a:prstGeom prst="rect">
            <a:avLst/>
          </a:prstGeom>
          <a:solidFill>
            <a:srgbClr val="1E3A5F"/>
          </a:solidFill>
          <a:ln w="12700">
            <a:solidFill>
              <a:srgbClr val="1E3A5F"/>
            </a:solidFill>
            <a:prstDash val="solid"/>
          </a:ln>
        </p:spPr>
        <p:txBody>
          <a:bodyPr/>
          <a:lstStyle/>
          <a:p>
            <a:endParaRPr lang="en-UG" dirty="0"/>
          </a:p>
        </p:txBody>
      </p:sp>
      <p:sp>
        <p:nvSpPr>
          <p:cNvPr id="15" name="Text 13"/>
          <p:cNvSpPr/>
          <p:nvPr/>
        </p:nvSpPr>
        <p:spPr>
          <a:xfrm>
            <a:off x="6263640" y="1847088"/>
            <a:ext cx="557784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Congressional documents</a:t>
            </a:r>
            <a:endParaRPr lang="en-US" sz="1500" dirty="0"/>
          </a:p>
        </p:txBody>
      </p:sp>
      <p:sp>
        <p:nvSpPr>
          <p:cNvPr id="16" name="Shape 14"/>
          <p:cNvSpPr/>
          <p:nvPr/>
        </p:nvSpPr>
        <p:spPr>
          <a:xfrm>
            <a:off x="6263640" y="2331720"/>
            <a:ext cx="5577840" cy="2103120"/>
          </a:xfrm>
          <a:prstGeom prst="rect">
            <a:avLst/>
          </a:prstGeom>
          <a:solidFill>
            <a:srgbClr val="FFFFFF"/>
          </a:solidFill>
          <a:ln w="19050">
            <a:solidFill>
              <a:srgbClr val="1E3A5F"/>
            </a:solidFill>
            <a:prstDash val="solid"/>
          </a:ln>
        </p:spPr>
      </p:sp>
      <p:sp>
        <p:nvSpPr>
          <p:cNvPr id="17" name="Text 15"/>
          <p:cNvSpPr/>
          <p:nvPr/>
        </p:nvSpPr>
        <p:spPr>
          <a:xfrm>
            <a:off x="6428232" y="2404872"/>
            <a:ext cx="5212080" cy="420624"/>
          </a:xfrm>
          <a:prstGeom prst="rect">
            <a:avLst/>
          </a:prstGeom>
          <a:noFill/>
          <a:ln/>
        </p:spPr>
        <p:txBody>
          <a:bodyPr wrap="square" rtlCol="0" anchor="ctr"/>
          <a:lstStyle/>
          <a:p>
            <a:pPr marL="0" indent="0">
              <a:buNone/>
            </a:pPr>
            <a:r>
              <a:rPr lang="en-US" sz="1250" b="1" dirty="0">
                <a:solidFill>
                  <a:srgbClr val="1E293B"/>
                </a:solidFill>
                <a:latin typeface="Arial" pitchFamily="34" charset="0"/>
                <a:ea typeface="Arial" pitchFamily="34" charset="-122"/>
                <a:cs typeface="Arial" pitchFamily="34" charset="-120"/>
              </a:rPr>
              <a:t>Documents: </a:t>
            </a:r>
            <a:r>
              <a:rPr lang="en-US" sz="1250" dirty="0">
                <a:solidFill>
                  <a:srgbClr val="1E293B"/>
                </a:solidFill>
                <a:latin typeface="Arial" pitchFamily="34" charset="0"/>
                <a:ea typeface="Arial" pitchFamily="34" charset="-122"/>
                <a:cs typeface="Arial" pitchFamily="34" charset="-120"/>
              </a:rPr>
              <a:t>300 documents</a:t>
            </a:r>
            <a:endParaRPr lang="en-US" sz="1250" dirty="0"/>
          </a:p>
        </p:txBody>
      </p:sp>
      <p:sp>
        <p:nvSpPr>
          <p:cNvPr id="18" name="Text 16"/>
          <p:cNvSpPr/>
          <p:nvPr/>
        </p:nvSpPr>
        <p:spPr>
          <a:xfrm>
            <a:off x="6428232" y="2871216"/>
            <a:ext cx="5212080" cy="420624"/>
          </a:xfrm>
          <a:prstGeom prst="rect">
            <a:avLst/>
          </a:prstGeom>
          <a:noFill/>
          <a:ln/>
        </p:spPr>
        <p:txBody>
          <a:bodyPr wrap="square" rtlCol="0" anchor="ctr"/>
          <a:lstStyle/>
          <a:p>
            <a:pPr marL="0" indent="0">
              <a:buNone/>
            </a:pPr>
            <a:r>
              <a:rPr lang="en-US" sz="1250" b="1" dirty="0">
                <a:solidFill>
                  <a:srgbClr val="1E293B"/>
                </a:solidFill>
                <a:latin typeface="Arial" pitchFamily="34" charset="0"/>
                <a:ea typeface="Arial" pitchFamily="34" charset="-122"/>
                <a:cs typeface="Arial" pitchFamily="34" charset="-120"/>
              </a:rPr>
              <a:t>Period: </a:t>
            </a:r>
            <a:r>
              <a:rPr lang="en-US" sz="1250" dirty="0">
                <a:solidFill>
                  <a:srgbClr val="1E293B"/>
                </a:solidFill>
                <a:latin typeface="Arial" pitchFamily="34" charset="0"/>
                <a:ea typeface="Arial" pitchFamily="34" charset="-122"/>
                <a:cs typeface="Arial" pitchFamily="34" charset="-120"/>
              </a:rPr>
              <a:t>1995 – 2025</a:t>
            </a:r>
            <a:endParaRPr lang="en-US" sz="1250" dirty="0"/>
          </a:p>
        </p:txBody>
      </p:sp>
      <p:sp>
        <p:nvSpPr>
          <p:cNvPr id="19" name="Text 17"/>
          <p:cNvSpPr/>
          <p:nvPr/>
        </p:nvSpPr>
        <p:spPr>
          <a:xfrm>
            <a:off x="6428232" y="3337560"/>
            <a:ext cx="5212080" cy="420624"/>
          </a:xfrm>
          <a:prstGeom prst="rect">
            <a:avLst/>
          </a:prstGeom>
          <a:noFill/>
          <a:ln/>
        </p:spPr>
        <p:txBody>
          <a:bodyPr wrap="square" rtlCol="0" anchor="ctr"/>
          <a:lstStyle/>
          <a:p>
            <a:pPr marL="0" indent="0">
              <a:buNone/>
            </a:pPr>
            <a:r>
              <a:rPr lang="en-US" sz="1250" b="1" dirty="0">
                <a:solidFill>
                  <a:srgbClr val="1E293B"/>
                </a:solidFill>
                <a:latin typeface="Arial" pitchFamily="34" charset="0"/>
                <a:ea typeface="Arial" pitchFamily="34" charset="-122"/>
                <a:cs typeface="Arial" pitchFamily="34" charset="-120"/>
              </a:rPr>
              <a:t>Categories: </a:t>
            </a:r>
            <a:r>
              <a:rPr lang="en-US" sz="1250" dirty="0">
                <a:solidFill>
                  <a:srgbClr val="1E293B"/>
                </a:solidFill>
                <a:latin typeface="Arial" pitchFamily="34" charset="0"/>
                <a:ea typeface="Arial" pitchFamily="34" charset="-122"/>
                <a:cs typeface="Arial" pitchFamily="34" charset="-120"/>
              </a:rPr>
              <a:t>10 ESA meta-categories</a:t>
            </a:r>
            <a:endParaRPr lang="en-US" sz="1250" dirty="0"/>
          </a:p>
        </p:txBody>
      </p:sp>
      <p:sp>
        <p:nvSpPr>
          <p:cNvPr id="20" name="Text 18"/>
          <p:cNvSpPr/>
          <p:nvPr/>
        </p:nvSpPr>
        <p:spPr>
          <a:xfrm>
            <a:off x="6428232" y="3803904"/>
            <a:ext cx="5212080" cy="420624"/>
          </a:xfrm>
          <a:prstGeom prst="rect">
            <a:avLst/>
          </a:prstGeom>
          <a:noFill/>
          <a:ln/>
        </p:spPr>
        <p:txBody>
          <a:bodyPr wrap="square" rtlCol="0" anchor="ctr"/>
          <a:lstStyle/>
          <a:p>
            <a:pPr marL="0" indent="0">
              <a:buNone/>
            </a:pPr>
            <a:r>
              <a:rPr lang="en-US" sz="1250" b="1" dirty="0">
                <a:solidFill>
                  <a:srgbClr val="1E293B"/>
                </a:solidFill>
                <a:latin typeface="Arial" pitchFamily="34" charset="0"/>
                <a:ea typeface="Arial" pitchFamily="34" charset="-122"/>
                <a:cs typeface="Arial" pitchFamily="34" charset="-120"/>
              </a:rPr>
              <a:t>Variable: </a:t>
            </a:r>
            <a:r>
              <a:rPr lang="en-US" sz="1250" dirty="0">
                <a:solidFill>
                  <a:srgbClr val="1E293B"/>
                </a:solidFill>
                <a:latin typeface="Arial" pitchFamily="34" charset="0"/>
                <a:ea typeface="Arial" pitchFamily="34" charset="-122"/>
                <a:cs typeface="Arial" pitchFamily="34" charset="-120"/>
              </a:rPr>
              <a:t>cong_t = count of listing documents</a:t>
            </a:r>
            <a:endParaRPr lang="en-US" sz="1250" dirty="0"/>
          </a:p>
        </p:txBody>
      </p:sp>
      <p:sp>
        <p:nvSpPr>
          <p:cNvPr id="24" name="Shape 22"/>
          <p:cNvSpPr/>
          <p:nvPr/>
        </p:nvSpPr>
        <p:spPr>
          <a:xfrm>
            <a:off x="320040" y="4526280"/>
            <a:ext cx="11521440" cy="502920"/>
          </a:xfrm>
          <a:prstGeom prst="rect">
            <a:avLst/>
          </a:prstGeom>
          <a:solidFill>
            <a:schemeClr val="accent1">
              <a:lumMod val="50000"/>
            </a:schemeClr>
          </a:solidFill>
          <a:ln w="12700">
            <a:solidFill>
              <a:srgbClr val="BA7517"/>
            </a:solidFill>
            <a:prstDash val="solid"/>
          </a:ln>
        </p:spPr>
      </p:sp>
      <p:sp>
        <p:nvSpPr>
          <p:cNvPr id="25" name="Text 23"/>
          <p:cNvSpPr/>
          <p:nvPr/>
        </p:nvSpPr>
        <p:spPr>
          <a:xfrm>
            <a:off x="320040" y="4544568"/>
            <a:ext cx="1152144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What kind of data do I have?</a:t>
            </a:r>
            <a:endParaRPr lang="en-US" sz="1400" dirty="0"/>
          </a:p>
        </p:txBody>
      </p:sp>
      <p:sp>
        <p:nvSpPr>
          <p:cNvPr id="26" name="Shape 24"/>
          <p:cNvSpPr/>
          <p:nvPr/>
        </p:nvSpPr>
        <p:spPr>
          <a:xfrm>
            <a:off x="320040" y="5029199"/>
            <a:ext cx="11521440" cy="1694329"/>
          </a:xfrm>
          <a:prstGeom prst="rect">
            <a:avLst/>
          </a:prstGeom>
          <a:solidFill>
            <a:srgbClr val="FFFFFF"/>
          </a:solidFill>
          <a:ln w="19050">
            <a:solidFill>
              <a:srgbClr val="BA7517"/>
            </a:solidFill>
            <a:prstDash val="solid"/>
          </a:ln>
        </p:spPr>
      </p:sp>
      <p:sp>
        <p:nvSpPr>
          <p:cNvPr id="27" name="Shape 25"/>
          <p:cNvSpPr/>
          <p:nvPr/>
        </p:nvSpPr>
        <p:spPr>
          <a:xfrm>
            <a:off x="320040" y="5038344"/>
            <a:ext cx="11521440" cy="1685184"/>
          </a:xfrm>
          <a:prstGeom prst="rect">
            <a:avLst/>
          </a:prstGeom>
          <a:solidFill>
            <a:srgbClr val="F0F0F0"/>
          </a:solidFill>
          <a:ln w="12700">
            <a:solidFill>
              <a:srgbClr val="999999"/>
            </a:solidFill>
            <a:prstDash val="solid"/>
          </a:ln>
        </p:spPr>
        <p:txBody>
          <a:bodyPr/>
          <a:lstStyle/>
          <a:p>
            <a:endParaRPr lang="en-UG" dirty="0"/>
          </a:p>
        </p:txBody>
      </p:sp>
      <p:sp>
        <p:nvSpPr>
          <p:cNvPr id="28" name="Text 26"/>
          <p:cNvSpPr/>
          <p:nvPr/>
        </p:nvSpPr>
        <p:spPr>
          <a:xfrm>
            <a:off x="320040" y="5065776"/>
            <a:ext cx="11521440" cy="1657752"/>
          </a:xfrm>
          <a:prstGeom prst="rect">
            <a:avLst/>
          </a:prstGeom>
          <a:noFill/>
          <a:ln/>
        </p:spPr>
        <p:txBody>
          <a:bodyPr wrap="square" lIns="38100" tIns="38100" rIns="38100" bIns="38100" rtlCol="0" anchor="ctr"/>
          <a:lstStyle/>
          <a:p>
            <a:endParaRPr lang="en-UG" dirty="0"/>
          </a:p>
          <a:p>
            <a:endParaRPr lang="en-UG" dirty="0"/>
          </a:p>
          <a:p>
            <a:endParaRPr lang="en-UG" dirty="0"/>
          </a:p>
          <a:p>
            <a:endParaRPr lang="en-UG" dirty="0"/>
          </a:p>
          <a:p>
            <a:endParaRPr lang="en-UG" dirty="0"/>
          </a:p>
          <a:p>
            <a:endParaRPr lang="en-UG" dirty="0"/>
          </a:p>
          <a:p>
            <a:pPr marL="171450" indent="-171450">
              <a:buFont typeface="Wingdings" pitchFamily="2" charset="2"/>
              <a:buChar char="Ø"/>
            </a:pPr>
            <a:r>
              <a:rPr lang="en-US" sz="1400" b="1" dirty="0">
                <a:latin typeface="Arial" pitchFamily="34" charset="0"/>
                <a:ea typeface="Arial" pitchFamily="34" charset="-122"/>
                <a:cs typeface="Arial" pitchFamily="34" charset="-120"/>
              </a:rPr>
              <a:t>Counts, not measurements</a:t>
            </a:r>
            <a:endParaRPr lang="en-US" sz="1400" dirty="0">
              <a:solidFill>
                <a:srgbClr val="1E293B"/>
              </a:solidFill>
              <a:latin typeface="Arial" pitchFamily="34" charset="0"/>
              <a:ea typeface="Arial" pitchFamily="34" charset="-122"/>
              <a:cs typeface="Arial" pitchFamily="34" charset="-120"/>
            </a:endParaRPr>
          </a:p>
          <a:p>
            <a:endParaRPr lang="en-US" sz="1400" dirty="0">
              <a:solidFill>
                <a:srgbClr val="1E293B"/>
              </a:solidFill>
              <a:latin typeface="Arial" pitchFamily="34" charset="0"/>
              <a:ea typeface="Arial" pitchFamily="34" charset="-122"/>
              <a:cs typeface="Arial" pitchFamily="34" charset="-120"/>
            </a:endParaRPr>
          </a:p>
          <a:p>
            <a:pPr marL="171450" indent="-171450">
              <a:buFont typeface="Wingdings" pitchFamily="2" charset="2"/>
              <a:buChar char="Ø"/>
            </a:pPr>
            <a:r>
              <a:rPr lang="en-US" sz="1400" b="1" dirty="0">
                <a:latin typeface="Arial" pitchFamily="34" charset="0"/>
                <a:ea typeface="Arial" pitchFamily="34" charset="-122"/>
                <a:cs typeface="Arial" pitchFamily="34" charset="-120"/>
              </a:rPr>
              <a:t>Non-negative </a:t>
            </a:r>
            <a:endParaRPr lang="en-US" sz="1400" dirty="0">
              <a:solidFill>
                <a:srgbClr val="1E293B"/>
              </a:solidFill>
              <a:latin typeface="Arial" pitchFamily="34" charset="0"/>
              <a:ea typeface="Arial" pitchFamily="34" charset="-122"/>
              <a:cs typeface="Arial" pitchFamily="34" charset="-120"/>
            </a:endParaRPr>
          </a:p>
          <a:p>
            <a:endParaRPr lang="en-US" sz="1400" dirty="0">
              <a:solidFill>
                <a:srgbClr val="1E293B"/>
              </a:solidFill>
              <a:latin typeface="Arial" pitchFamily="34" charset="0"/>
              <a:ea typeface="Arial" pitchFamily="34" charset="-122"/>
              <a:cs typeface="Arial" pitchFamily="34" charset="-120"/>
            </a:endParaRPr>
          </a:p>
          <a:p>
            <a:pPr marL="171450" indent="-171450">
              <a:buFont typeface="Wingdings" pitchFamily="2" charset="2"/>
              <a:buChar char="Ø"/>
            </a:pPr>
            <a:r>
              <a:rPr lang="en-US" sz="1400" b="1" dirty="0">
                <a:latin typeface="Arial" pitchFamily="34" charset="0"/>
                <a:ea typeface="Arial" pitchFamily="34" charset="-122"/>
                <a:cs typeface="Arial" pitchFamily="34" charset="-120"/>
              </a:rPr>
              <a:t>Heavily zero-inflated, e.g., </a:t>
            </a:r>
            <a:r>
              <a:rPr lang="en-US" sz="1400" dirty="0">
                <a:solidFill>
                  <a:srgbClr val="1E293B"/>
                </a:solidFill>
                <a:latin typeface="Arial" pitchFamily="34" charset="0"/>
                <a:ea typeface="Arial" pitchFamily="34" charset="-122"/>
                <a:cs typeface="Arial" pitchFamily="34" charset="-120"/>
              </a:rPr>
              <a:t>359 of 371 months (96.8%) have </a:t>
            </a:r>
            <a:r>
              <a:rPr lang="en-US" sz="1400" dirty="0" err="1">
                <a:solidFill>
                  <a:srgbClr val="1E293B"/>
                </a:solidFill>
                <a:latin typeface="Arial" pitchFamily="34" charset="0"/>
                <a:ea typeface="Arial" pitchFamily="34" charset="-122"/>
                <a:cs typeface="Arial" pitchFamily="34" charset="-120"/>
              </a:rPr>
              <a:t>cong_t</a:t>
            </a:r>
            <a:r>
              <a:rPr lang="en-US" sz="1400" dirty="0">
                <a:solidFill>
                  <a:srgbClr val="1E293B"/>
                </a:solidFill>
                <a:latin typeface="Arial" pitchFamily="34" charset="0"/>
                <a:ea typeface="Arial" pitchFamily="34" charset="-122"/>
                <a:cs typeface="Arial" pitchFamily="34" charset="-120"/>
              </a:rPr>
              <a:t> = 0</a:t>
            </a:r>
            <a:endParaRPr lang="en-US" sz="1400" dirty="0"/>
          </a:p>
          <a:p>
            <a:pPr marL="171450" indent="-171450">
              <a:buFont typeface="Wingdings" pitchFamily="2" charset="2"/>
              <a:buChar char="Ø"/>
            </a:pPr>
            <a:endParaRPr lang="en-US" sz="1200" dirty="0"/>
          </a:p>
          <a:p>
            <a:pPr marL="171450" indent="-171450">
              <a:buFont typeface="Wingdings" pitchFamily="2" charset="2"/>
              <a:buChar char="Ø"/>
            </a:pPr>
            <a:endParaRPr lang="en-US" sz="1200" dirty="0"/>
          </a:p>
          <a:p>
            <a:pPr marL="171450" indent="-171450">
              <a:buFont typeface="Wingdings" pitchFamily="2" charset="2"/>
              <a:buChar char="Ø"/>
            </a:pPr>
            <a:endParaRPr lang="en-US" sz="1200" dirty="0"/>
          </a:p>
          <a:p>
            <a:pPr marL="171450" indent="-171450">
              <a:buFont typeface="Wingdings" pitchFamily="2" charset="2"/>
              <a:buChar char="Ø"/>
            </a:pPr>
            <a:endParaRPr lang="en-US" sz="1200" b="1" dirty="0">
              <a:latin typeface="Arial" pitchFamily="34" charset="0"/>
              <a:ea typeface="Arial" pitchFamily="34" charset="-122"/>
              <a:cs typeface="Arial" pitchFamily="34" charset="-120"/>
            </a:endParaRPr>
          </a:p>
          <a:p>
            <a:pPr marL="171450" indent="-171450">
              <a:buFont typeface="Wingdings" pitchFamily="2" charset="2"/>
              <a:buChar char="Ø"/>
            </a:pPr>
            <a:endParaRPr lang="en-US" sz="1200" dirty="0"/>
          </a:p>
          <a:p>
            <a:endParaRPr lang="en-US" sz="1200" dirty="0"/>
          </a:p>
          <a:p>
            <a:pPr marL="0" indent="0">
              <a:buNone/>
            </a:pPr>
            <a:endParaRPr lang="en-US" sz="1200" dirty="0"/>
          </a:p>
          <a:p>
            <a:pPr marL="0" indent="0">
              <a:buNone/>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11931988" cy="868680"/>
          </a:xfrm>
          <a:prstGeom prst="rect">
            <a:avLst/>
          </a:prstGeom>
          <a:solidFill>
            <a:srgbClr val="1E3A5F"/>
          </a:solidFill>
          <a:ln w="12700">
            <a:solidFill>
              <a:srgbClr val="1E3A5F"/>
            </a:solidFill>
            <a:prstDash val="solid"/>
          </a:ln>
        </p:spPr>
      </p:sp>
      <p:sp>
        <p:nvSpPr>
          <p:cNvPr id="5" name="Text 3"/>
          <p:cNvSpPr/>
          <p:nvPr/>
        </p:nvSpPr>
        <p:spPr>
          <a:xfrm>
            <a:off x="139848" y="64008"/>
            <a:ext cx="11793071" cy="512064"/>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Describing the Response Variable — Congressional Listing Documents (cong_t)</a:t>
            </a:r>
            <a:endParaRPr lang="en-US" sz="2000" dirty="0"/>
          </a:p>
        </p:txBody>
      </p:sp>
      <p:sp>
        <p:nvSpPr>
          <p:cNvPr id="8" name="Text 6"/>
          <p:cNvSpPr/>
          <p:nvPr/>
        </p:nvSpPr>
        <p:spPr>
          <a:xfrm>
            <a:off x="274320" y="978408"/>
            <a:ext cx="361188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 Summary Output</a:t>
            </a:r>
            <a:endParaRPr lang="en-US" sz="1300" dirty="0"/>
          </a:p>
        </p:txBody>
      </p:sp>
      <p:sp>
        <p:nvSpPr>
          <p:cNvPr id="11" name="Shape 9"/>
          <p:cNvSpPr/>
          <p:nvPr/>
        </p:nvSpPr>
        <p:spPr>
          <a:xfrm>
            <a:off x="8788998" y="986103"/>
            <a:ext cx="3116490" cy="384048"/>
          </a:xfrm>
          <a:prstGeom prst="rect">
            <a:avLst/>
          </a:prstGeom>
          <a:solidFill>
            <a:schemeClr val="accent1">
              <a:lumMod val="50000"/>
            </a:schemeClr>
          </a:solidFill>
          <a:ln w="12700">
            <a:solidFill>
              <a:srgbClr val="028090"/>
            </a:solidFill>
            <a:prstDash val="solid"/>
          </a:ln>
        </p:spPr>
      </p:sp>
      <p:sp>
        <p:nvSpPr>
          <p:cNvPr id="12" name="Text 10"/>
          <p:cNvSpPr/>
          <p:nvPr/>
        </p:nvSpPr>
        <p:spPr>
          <a:xfrm>
            <a:off x="8815498" y="1018107"/>
            <a:ext cx="311649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Data Summary Statistics</a:t>
            </a:r>
            <a:endParaRPr lang="en-US" sz="1300" dirty="0"/>
          </a:p>
        </p:txBody>
      </p:sp>
      <p:sp>
        <p:nvSpPr>
          <p:cNvPr id="68" name="Shape 65"/>
          <p:cNvSpPr/>
          <p:nvPr/>
        </p:nvSpPr>
        <p:spPr>
          <a:xfrm>
            <a:off x="274320" y="5103431"/>
            <a:ext cx="11631168" cy="1708849"/>
          </a:xfrm>
          <a:prstGeom prst="rect">
            <a:avLst/>
          </a:prstGeom>
          <a:solidFill>
            <a:schemeClr val="accent1">
              <a:lumMod val="50000"/>
            </a:schemeClr>
          </a:solidFill>
          <a:ln w="12700">
            <a:solidFill>
              <a:srgbClr val="8B1A1A"/>
            </a:solidFill>
            <a:prstDash val="solid"/>
          </a:ln>
        </p:spPr>
      </p:sp>
      <p:sp>
        <p:nvSpPr>
          <p:cNvPr id="69" name="Text 66"/>
          <p:cNvSpPr/>
          <p:nvPr/>
        </p:nvSpPr>
        <p:spPr>
          <a:xfrm>
            <a:off x="365760" y="5199944"/>
            <a:ext cx="11448288" cy="1594048"/>
          </a:xfrm>
          <a:prstGeom prst="rect">
            <a:avLst/>
          </a:prstGeom>
          <a:noFill/>
          <a:ln/>
        </p:spPr>
        <p:txBody>
          <a:bodyPr wrap="square" rtlCol="0" anchor="ctr"/>
          <a:lstStyle/>
          <a:p>
            <a:pPr marL="0" indent="0">
              <a:buNone/>
            </a:pPr>
            <a:r>
              <a:rPr lang="en-US" sz="1150" b="1" dirty="0">
                <a:solidFill>
                  <a:srgbClr val="FFFFFF"/>
                </a:solidFill>
                <a:latin typeface="Arial" pitchFamily="34" charset="0"/>
                <a:ea typeface="Arial" pitchFamily="34" charset="-122"/>
                <a:cs typeface="Arial" pitchFamily="34" charset="-120"/>
              </a:rPr>
              <a:t>Problem: </a:t>
            </a:r>
          </a:p>
          <a:p>
            <a:pPr marL="171450" indent="-171450">
              <a:buFont typeface="Wingdings" pitchFamily="2" charset="2"/>
              <a:buChar char="Ø"/>
            </a:pPr>
            <a:r>
              <a:rPr lang="en-US" sz="1150" b="1" dirty="0">
                <a:solidFill>
                  <a:srgbClr val="FFFFFF"/>
                </a:solidFill>
                <a:latin typeface="Arial" pitchFamily="34" charset="0"/>
                <a:ea typeface="Arial" pitchFamily="34" charset="-122"/>
                <a:cs typeface="Arial" pitchFamily="34" charset="-120"/>
              </a:rPr>
              <a:t>96.8% structural zeros  </a:t>
            </a:r>
          </a:p>
          <a:p>
            <a:pPr marL="171450" indent="-171450">
              <a:buFont typeface="Wingdings" pitchFamily="2" charset="2"/>
              <a:buChar char="Ø"/>
            </a:pPr>
            <a:r>
              <a:rPr lang="en-US" sz="1150" b="1" dirty="0">
                <a:solidFill>
                  <a:srgbClr val="FFFFFF"/>
                </a:solidFill>
                <a:latin typeface="Arial" pitchFamily="34" charset="0"/>
                <a:ea typeface="Arial" pitchFamily="34" charset="-122"/>
                <a:cs typeface="Arial" pitchFamily="34" charset="-120"/>
              </a:rPr>
              <a:t>Var &gt; Mean </a:t>
            </a:r>
          </a:p>
          <a:p>
            <a:pPr marL="171450" indent="-171450">
              <a:buFont typeface="Wingdings" pitchFamily="2" charset="2"/>
              <a:buChar char="Ø"/>
            </a:pPr>
            <a:r>
              <a:rPr lang="en-US" sz="1150" b="1" dirty="0">
                <a:solidFill>
                  <a:srgbClr val="FFFFFF"/>
                </a:solidFill>
                <a:latin typeface="Arial" pitchFamily="34" charset="0"/>
                <a:ea typeface="Arial" pitchFamily="34" charset="-122"/>
                <a:cs typeface="Arial" pitchFamily="34" charset="-120"/>
              </a:rPr>
              <a:t>Right-skew (skewness=11.27) </a:t>
            </a:r>
          </a:p>
          <a:p>
            <a:pPr marL="0" indent="0">
              <a:buNone/>
            </a:pPr>
            <a:endParaRPr lang="en-US" sz="1150" b="1" dirty="0">
              <a:solidFill>
                <a:srgbClr val="FFFFFF"/>
              </a:solidFill>
              <a:latin typeface="Arial" pitchFamily="34" charset="0"/>
              <a:ea typeface="Arial" pitchFamily="34" charset="-122"/>
              <a:cs typeface="Arial" pitchFamily="34" charset="-120"/>
            </a:endParaRPr>
          </a:p>
          <a:p>
            <a:pPr marL="0" indent="0">
              <a:buNone/>
            </a:pPr>
            <a:r>
              <a:rPr lang="en-US" sz="1150" b="1" dirty="0" err="1">
                <a:solidFill>
                  <a:srgbClr val="FFFFFF"/>
                </a:solidFill>
                <a:latin typeface="Arial" pitchFamily="34" charset="0"/>
                <a:ea typeface="Arial" pitchFamily="34" charset="-122"/>
                <a:cs typeface="Arial" pitchFamily="34" charset="-120"/>
              </a:rPr>
              <a:t>cong_t</a:t>
            </a:r>
            <a:r>
              <a:rPr lang="en-US" sz="1150" b="1" dirty="0">
                <a:solidFill>
                  <a:srgbClr val="FFFFFF"/>
                </a:solidFill>
                <a:latin typeface="Arial" pitchFamily="34" charset="0"/>
                <a:ea typeface="Arial" pitchFamily="34" charset="-122"/>
                <a:cs typeface="Arial" pitchFamily="34" charset="-120"/>
              </a:rPr>
              <a:t> violates every assumption of OLS. Count regression is required.</a:t>
            </a:r>
            <a:endParaRPr lang="en-US" sz="1150" dirty="0"/>
          </a:p>
        </p:txBody>
      </p:sp>
      <p:graphicFrame>
        <p:nvGraphicFramePr>
          <p:cNvPr id="71" name="Table 70">
            <a:extLst>
              <a:ext uri="{FF2B5EF4-FFF2-40B4-BE49-F238E27FC236}">
                <a16:creationId xmlns:a16="http://schemas.microsoft.com/office/drawing/2014/main" id="{ACAFC9B8-20B8-BA66-08F5-437017BB65DE}"/>
              </a:ext>
            </a:extLst>
          </p:cNvPr>
          <p:cNvGraphicFramePr>
            <a:graphicFrameLocks noGrp="1"/>
          </p:cNvGraphicFramePr>
          <p:nvPr>
            <p:extLst>
              <p:ext uri="{D42A27DB-BD31-4B8C-83A1-F6EECF244321}">
                <p14:modId xmlns:p14="http://schemas.microsoft.com/office/powerpoint/2010/main" val="1401154915"/>
              </p:ext>
            </p:extLst>
          </p:nvPr>
        </p:nvGraphicFramePr>
        <p:xfrm>
          <a:off x="8788998" y="1370151"/>
          <a:ext cx="3116490" cy="3352800"/>
        </p:xfrm>
        <a:graphic>
          <a:graphicData uri="http://schemas.openxmlformats.org/drawingml/2006/table">
            <a:tbl>
              <a:tblPr firstRow="1" bandRow="1">
                <a:tableStyleId>{5C22544A-7EE6-4342-B048-85BDC9FD1C3A}</a:tableStyleId>
              </a:tblPr>
              <a:tblGrid>
                <a:gridCol w="1558245">
                  <a:extLst>
                    <a:ext uri="{9D8B030D-6E8A-4147-A177-3AD203B41FA5}">
                      <a16:colId xmlns:a16="http://schemas.microsoft.com/office/drawing/2014/main" val="3055304742"/>
                    </a:ext>
                  </a:extLst>
                </a:gridCol>
                <a:gridCol w="1558245">
                  <a:extLst>
                    <a:ext uri="{9D8B030D-6E8A-4147-A177-3AD203B41FA5}">
                      <a16:colId xmlns:a16="http://schemas.microsoft.com/office/drawing/2014/main" val="2327813982"/>
                    </a:ext>
                  </a:extLst>
                </a:gridCol>
              </a:tblGrid>
              <a:tr h="278712">
                <a:tc>
                  <a:txBody>
                    <a:bodyPr/>
                    <a:lstStyle/>
                    <a:p>
                      <a:r>
                        <a:rPr lang="en-UG" sz="1400" dirty="0">
                          <a:latin typeface="Arial" panose="020B0604020202020204" pitchFamily="34" charset="0"/>
                          <a:cs typeface="Arial" panose="020B0604020202020204" pitchFamily="34" charset="0"/>
                        </a:rPr>
                        <a:t>Parameter</a:t>
                      </a:r>
                    </a:p>
                  </a:txBody>
                  <a:tcPr/>
                </a:tc>
                <a:tc>
                  <a:txBody>
                    <a:bodyPr/>
                    <a:lstStyle/>
                    <a:p>
                      <a:r>
                        <a:rPr lang="en-UG" sz="1400" dirty="0">
                          <a:latin typeface="Arial" panose="020B0604020202020204" pitchFamily="34" charset="0"/>
                          <a:cs typeface="Arial" panose="020B0604020202020204" pitchFamily="34" charset="0"/>
                        </a:rPr>
                        <a:t>value</a:t>
                      </a:r>
                    </a:p>
                  </a:txBody>
                  <a:tcPr/>
                </a:tc>
                <a:extLst>
                  <a:ext uri="{0D108BD9-81ED-4DB2-BD59-A6C34878D82A}">
                    <a16:rowId xmlns:a16="http://schemas.microsoft.com/office/drawing/2014/main" val="2052954280"/>
                  </a:ext>
                </a:extLst>
              </a:tr>
              <a:tr h="278712">
                <a:tc>
                  <a:txBody>
                    <a:bodyPr/>
                    <a:lstStyle/>
                    <a:p>
                      <a:r>
                        <a:rPr lang="en-GB" sz="1400" dirty="0">
                          <a:latin typeface="Arial" panose="020B0604020202020204" pitchFamily="34" charset="0"/>
                          <a:cs typeface="Arial" panose="020B0604020202020204" pitchFamily="34" charset="0"/>
                        </a:rPr>
                        <a:t>n (months)</a:t>
                      </a:r>
                      <a:endParaRPr lang="en-UG" sz="1400" dirty="0">
                        <a:latin typeface="Arial" panose="020B0604020202020204" pitchFamily="34" charset="0"/>
                        <a:cs typeface="Arial" panose="020B0604020202020204" pitchFamily="34" charset="0"/>
                      </a:endParaRPr>
                    </a:p>
                  </a:txBody>
                  <a:tcPr/>
                </a:tc>
                <a:tc>
                  <a:txBody>
                    <a:bodyPr/>
                    <a:lstStyle/>
                    <a:p>
                      <a:r>
                        <a:rPr lang="en-UG" sz="1400" dirty="0">
                          <a:latin typeface="Arial" panose="020B0604020202020204" pitchFamily="34" charset="0"/>
                          <a:cs typeface="Arial" panose="020B0604020202020204" pitchFamily="34" charset="0"/>
                        </a:rPr>
                        <a:t>371</a:t>
                      </a:r>
                    </a:p>
                  </a:txBody>
                  <a:tcPr/>
                </a:tc>
                <a:extLst>
                  <a:ext uri="{0D108BD9-81ED-4DB2-BD59-A6C34878D82A}">
                    <a16:rowId xmlns:a16="http://schemas.microsoft.com/office/drawing/2014/main" val="3897480001"/>
                  </a:ext>
                </a:extLst>
              </a:tr>
              <a:tr h="278712">
                <a:tc>
                  <a:txBody>
                    <a:bodyPr/>
                    <a:lstStyle/>
                    <a:p>
                      <a:r>
                        <a:rPr lang="en-UG" sz="1400" dirty="0">
                          <a:latin typeface="Arial" panose="020B0604020202020204" pitchFamily="34" charset="0"/>
                          <a:cs typeface="Arial" panose="020B0604020202020204" pitchFamily="34" charset="0"/>
                        </a:rPr>
                        <a:t>Mean</a:t>
                      </a:r>
                    </a:p>
                  </a:txBody>
                  <a:tcPr/>
                </a:tc>
                <a:tc>
                  <a:txBody>
                    <a:bodyPr/>
                    <a:lstStyle/>
                    <a:p>
                      <a:r>
                        <a:rPr lang="en-UG" sz="1400" dirty="0">
                          <a:latin typeface="Arial" panose="020B0604020202020204" pitchFamily="34" charset="0"/>
                          <a:cs typeface="Arial" panose="020B0604020202020204" pitchFamily="34" charset="0"/>
                        </a:rPr>
                        <a:t>0.0458</a:t>
                      </a:r>
                    </a:p>
                  </a:txBody>
                  <a:tcPr/>
                </a:tc>
                <a:extLst>
                  <a:ext uri="{0D108BD9-81ED-4DB2-BD59-A6C34878D82A}">
                    <a16:rowId xmlns:a16="http://schemas.microsoft.com/office/drawing/2014/main" val="1478346676"/>
                  </a:ext>
                </a:extLst>
              </a:tr>
              <a:tr h="278712">
                <a:tc>
                  <a:txBody>
                    <a:bodyPr/>
                    <a:lstStyle/>
                    <a:p>
                      <a:r>
                        <a:rPr lang="en-UG" sz="1400" dirty="0">
                          <a:latin typeface="Arial" panose="020B0604020202020204" pitchFamily="34" charset="0"/>
                          <a:cs typeface="Arial" panose="020B0604020202020204" pitchFamily="34" charset="0"/>
                        </a:rPr>
                        <a:t>Variance</a:t>
                      </a:r>
                    </a:p>
                  </a:txBody>
                  <a:tcPr/>
                </a:tc>
                <a:tc>
                  <a:txBody>
                    <a:bodyPr/>
                    <a:lstStyle/>
                    <a:p>
                      <a:r>
                        <a:rPr lang="en-UG" sz="1400" dirty="0">
                          <a:latin typeface="Arial" panose="020B0604020202020204" pitchFamily="34" charset="0"/>
                          <a:cs typeface="Arial" panose="020B0604020202020204" pitchFamily="34" charset="0"/>
                        </a:rPr>
                        <a:t>0.1030</a:t>
                      </a:r>
                    </a:p>
                  </a:txBody>
                  <a:tcPr/>
                </a:tc>
                <a:extLst>
                  <a:ext uri="{0D108BD9-81ED-4DB2-BD59-A6C34878D82A}">
                    <a16:rowId xmlns:a16="http://schemas.microsoft.com/office/drawing/2014/main" val="1783710785"/>
                  </a:ext>
                </a:extLst>
              </a:tr>
              <a:tr h="278712">
                <a:tc>
                  <a:txBody>
                    <a:bodyPr/>
                    <a:lstStyle/>
                    <a:p>
                      <a:r>
                        <a:rPr lang="en-UG" sz="1400" dirty="0">
                          <a:latin typeface="Arial" panose="020B0604020202020204" pitchFamily="34" charset="0"/>
                          <a:cs typeface="Arial" panose="020B0604020202020204" pitchFamily="34" charset="0"/>
                        </a:rPr>
                        <a:t>Var / Mean</a:t>
                      </a:r>
                    </a:p>
                  </a:txBody>
                  <a:tcPr/>
                </a:tc>
                <a:tc>
                  <a:txBody>
                    <a:bodyPr/>
                    <a:lstStyle/>
                    <a:p>
                      <a:r>
                        <a:rPr lang="en-UG" sz="1400" dirty="0">
                          <a:latin typeface="Arial" panose="020B0604020202020204" pitchFamily="34" charset="0"/>
                          <a:cs typeface="Arial" panose="020B0604020202020204" pitchFamily="34" charset="0"/>
                        </a:rPr>
                        <a:t>2.2483</a:t>
                      </a:r>
                    </a:p>
                  </a:txBody>
                  <a:tcPr/>
                </a:tc>
                <a:extLst>
                  <a:ext uri="{0D108BD9-81ED-4DB2-BD59-A6C34878D82A}">
                    <a16:rowId xmlns:a16="http://schemas.microsoft.com/office/drawing/2014/main" val="475467835"/>
                  </a:ext>
                </a:extLst>
              </a:tr>
              <a:tr h="278712">
                <a:tc>
                  <a:txBody>
                    <a:bodyPr/>
                    <a:lstStyle/>
                    <a:p>
                      <a:r>
                        <a:rPr lang="en-UG" sz="1400" dirty="0">
                          <a:latin typeface="Arial" panose="020B0604020202020204" pitchFamily="34" charset="0"/>
                          <a:cs typeface="Arial" panose="020B0604020202020204" pitchFamily="34" charset="0"/>
                        </a:rPr>
                        <a:t>Min</a:t>
                      </a:r>
                    </a:p>
                  </a:txBody>
                  <a:tcPr/>
                </a:tc>
                <a:tc>
                  <a:txBody>
                    <a:bodyPr/>
                    <a:lstStyle/>
                    <a:p>
                      <a:r>
                        <a:rPr lang="en-UG" sz="1400" dirty="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316037800"/>
                  </a:ext>
                </a:extLst>
              </a:tr>
              <a:tr h="278712">
                <a:tc>
                  <a:txBody>
                    <a:bodyPr/>
                    <a:lstStyle/>
                    <a:p>
                      <a:r>
                        <a:rPr lang="en-UG" sz="1400" dirty="0">
                          <a:latin typeface="Arial" panose="020B0604020202020204" pitchFamily="34" charset="0"/>
                          <a:cs typeface="Arial" panose="020B0604020202020204" pitchFamily="34" charset="0"/>
                        </a:rPr>
                        <a:t>Median</a:t>
                      </a:r>
                    </a:p>
                  </a:txBody>
                  <a:tcPr/>
                </a:tc>
                <a:tc>
                  <a:txBody>
                    <a:bodyPr/>
                    <a:lstStyle/>
                    <a:p>
                      <a:r>
                        <a:rPr lang="en-UG" sz="1400" dirty="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4112572459"/>
                  </a:ext>
                </a:extLst>
              </a:tr>
              <a:tr h="278712">
                <a:tc>
                  <a:txBody>
                    <a:bodyPr/>
                    <a:lstStyle/>
                    <a:p>
                      <a:r>
                        <a:rPr lang="en-UG" sz="1400" dirty="0">
                          <a:latin typeface="Arial" panose="020B0604020202020204" pitchFamily="34" charset="0"/>
                          <a:cs typeface="Arial" panose="020B0604020202020204" pitchFamily="34" charset="0"/>
                        </a:rPr>
                        <a:t>Max</a:t>
                      </a:r>
                    </a:p>
                  </a:txBody>
                  <a:tcPr/>
                </a:tc>
                <a:tc>
                  <a:txBody>
                    <a:bodyPr/>
                    <a:lstStyle/>
                    <a:p>
                      <a:r>
                        <a:rPr lang="en-UG" sz="1400" dirty="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83636113"/>
                  </a:ext>
                </a:extLst>
              </a:tr>
              <a:tr h="278712">
                <a:tc>
                  <a:txBody>
                    <a:bodyPr/>
                    <a:lstStyle/>
                    <a:p>
                      <a:r>
                        <a:rPr lang="en-UG" sz="1400" dirty="0">
                          <a:latin typeface="Arial" panose="020B0604020202020204" pitchFamily="34" charset="0"/>
                          <a:cs typeface="Arial" panose="020B0604020202020204" pitchFamily="34" charset="0"/>
                        </a:rPr>
                        <a:t>Zeros (0)</a:t>
                      </a:r>
                    </a:p>
                  </a:txBody>
                  <a:tcPr/>
                </a:tc>
                <a:tc>
                  <a:txBody>
                    <a:bodyPr/>
                    <a:lstStyle/>
                    <a:p>
                      <a:r>
                        <a:rPr lang="en-UG" sz="1400" dirty="0">
                          <a:latin typeface="Arial" panose="020B0604020202020204" pitchFamily="34" charset="0"/>
                          <a:cs typeface="Arial" panose="020B0604020202020204" pitchFamily="34" charset="0"/>
                        </a:rPr>
                        <a:t>359 (96.8%)</a:t>
                      </a:r>
                    </a:p>
                  </a:txBody>
                  <a:tcPr/>
                </a:tc>
                <a:extLst>
                  <a:ext uri="{0D108BD9-81ED-4DB2-BD59-A6C34878D82A}">
                    <a16:rowId xmlns:a16="http://schemas.microsoft.com/office/drawing/2014/main" val="3292128458"/>
                  </a:ext>
                </a:extLst>
              </a:tr>
              <a:tr h="278712">
                <a:tc>
                  <a:txBody>
                    <a:bodyPr/>
                    <a:lstStyle/>
                    <a:p>
                      <a:r>
                        <a:rPr lang="en-UG" sz="1400" dirty="0">
                          <a:latin typeface="Arial" panose="020B0604020202020204" pitchFamily="34" charset="0"/>
                          <a:cs typeface="Arial" panose="020B0604020202020204" pitchFamily="34" charset="0"/>
                        </a:rPr>
                        <a:t>Non-zeros (n)</a:t>
                      </a:r>
                    </a:p>
                  </a:txBody>
                  <a:tcPr/>
                </a:tc>
                <a:tc>
                  <a:txBody>
                    <a:bodyPr/>
                    <a:lstStyle/>
                    <a:p>
                      <a:r>
                        <a:rPr lang="en-UG" sz="1400" dirty="0">
                          <a:latin typeface="Arial" panose="020B0604020202020204" pitchFamily="34" charset="0"/>
                          <a:cs typeface="Arial" panose="020B0604020202020204" pitchFamily="34" charset="0"/>
                        </a:rPr>
                        <a:t>12 (3.2%)</a:t>
                      </a:r>
                    </a:p>
                  </a:txBody>
                  <a:tcPr/>
                </a:tc>
                <a:extLst>
                  <a:ext uri="{0D108BD9-81ED-4DB2-BD59-A6C34878D82A}">
                    <a16:rowId xmlns:a16="http://schemas.microsoft.com/office/drawing/2014/main" val="3423670736"/>
                  </a:ext>
                </a:extLst>
              </a:tr>
              <a:tr h="278712">
                <a:tc>
                  <a:txBody>
                    <a:bodyPr/>
                    <a:lstStyle/>
                    <a:p>
                      <a:r>
                        <a:rPr lang="en-UG" sz="1400" dirty="0">
                          <a:latin typeface="Arial" panose="020B0604020202020204" pitchFamily="34" charset="0"/>
                          <a:cs typeface="Arial" panose="020B0604020202020204" pitchFamily="34" charset="0"/>
                        </a:rPr>
                        <a:t>Skewness</a:t>
                      </a:r>
                    </a:p>
                  </a:txBody>
                  <a:tcPr/>
                </a:tc>
                <a:tc>
                  <a:txBody>
                    <a:bodyPr/>
                    <a:lstStyle/>
                    <a:p>
                      <a:r>
                        <a:rPr lang="en-UG" sz="1400" dirty="0">
                          <a:latin typeface="Arial" panose="020B0604020202020204" pitchFamily="34" charset="0"/>
                          <a:cs typeface="Arial" panose="020B0604020202020204" pitchFamily="34" charset="0"/>
                        </a:rPr>
                        <a:t>11.27</a:t>
                      </a:r>
                    </a:p>
                  </a:txBody>
                  <a:tcPr/>
                </a:tc>
                <a:extLst>
                  <a:ext uri="{0D108BD9-81ED-4DB2-BD59-A6C34878D82A}">
                    <a16:rowId xmlns:a16="http://schemas.microsoft.com/office/drawing/2014/main" val="118324404"/>
                  </a:ext>
                </a:extLst>
              </a:tr>
            </a:tbl>
          </a:graphicData>
        </a:graphic>
      </p:graphicFrame>
      <p:pic>
        <p:nvPicPr>
          <p:cNvPr id="74" name="Picture 73">
            <a:extLst>
              <a:ext uri="{FF2B5EF4-FFF2-40B4-BE49-F238E27FC236}">
                <a16:creationId xmlns:a16="http://schemas.microsoft.com/office/drawing/2014/main" id="{9E4E67EF-3561-3183-6406-26101CA49ACE}"/>
              </a:ext>
            </a:extLst>
          </p:cNvPr>
          <p:cNvPicPr>
            <a:picLocks noChangeAspect="1"/>
          </p:cNvPicPr>
          <p:nvPr/>
        </p:nvPicPr>
        <p:blipFill>
          <a:blip r:embed="rId3"/>
          <a:stretch>
            <a:fillRect/>
          </a:stretch>
        </p:blipFill>
        <p:spPr>
          <a:xfrm>
            <a:off x="260012" y="1343630"/>
            <a:ext cx="4957447" cy="3366605"/>
          </a:xfrm>
          <a:prstGeom prst="rect">
            <a:avLst/>
          </a:prstGeom>
        </p:spPr>
      </p:pic>
      <p:pic>
        <p:nvPicPr>
          <p:cNvPr id="75" name="Picture 74">
            <a:extLst>
              <a:ext uri="{FF2B5EF4-FFF2-40B4-BE49-F238E27FC236}">
                <a16:creationId xmlns:a16="http://schemas.microsoft.com/office/drawing/2014/main" id="{31FF187E-3C10-B50F-1040-4DE89B04095D}"/>
              </a:ext>
            </a:extLst>
          </p:cNvPr>
          <p:cNvPicPr>
            <a:picLocks noChangeAspect="1"/>
          </p:cNvPicPr>
          <p:nvPr/>
        </p:nvPicPr>
        <p:blipFill>
          <a:blip r:embed="rId4"/>
          <a:stretch>
            <a:fillRect/>
          </a:stretch>
        </p:blipFill>
        <p:spPr>
          <a:xfrm>
            <a:off x="5026920" y="1123034"/>
            <a:ext cx="3482380" cy="35872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9144"/>
            <a:ext cx="12009120" cy="749808"/>
          </a:xfrm>
          <a:prstGeom prst="rect">
            <a:avLst/>
          </a:prstGeom>
          <a:solidFill>
            <a:schemeClr val="accent1">
              <a:lumMod val="50000"/>
            </a:schemeClr>
          </a:solidFill>
          <a:ln w="12700">
            <a:solidFill>
              <a:srgbClr val="8B4513"/>
            </a:solidFill>
            <a:prstDash val="solid"/>
          </a:ln>
        </p:spPr>
      </p:sp>
      <p:sp>
        <p:nvSpPr>
          <p:cNvPr id="3" name="Text 1"/>
          <p:cNvSpPr/>
          <p:nvPr/>
        </p:nvSpPr>
        <p:spPr>
          <a:xfrm>
            <a:off x="91440" y="0"/>
            <a:ext cx="8869680" cy="384048"/>
          </a:xfrm>
          <a:prstGeom prst="rect">
            <a:avLst/>
          </a:prstGeom>
          <a:noFill/>
          <a:ln/>
        </p:spPr>
        <p:txBody>
          <a:bodyPr wrap="square" lIns="0" tIns="0" rIns="0" bIns="0" rtlCol="0" anchor="ctr"/>
          <a:lstStyle/>
          <a:p>
            <a:pPr marL="0" indent="0">
              <a:buNone/>
            </a:pPr>
            <a:r>
              <a:rPr lang="en-US" sz="2000" b="1" dirty="0">
                <a:solidFill>
                  <a:srgbClr val="FFFFFF"/>
                </a:solidFill>
              </a:rPr>
              <a:t>Use of Generalized Linear Models (GLM)</a:t>
            </a:r>
            <a:endParaRPr lang="en-US" sz="2000" dirty="0"/>
          </a:p>
        </p:txBody>
      </p:sp>
      <p:sp>
        <p:nvSpPr>
          <p:cNvPr id="4" name="Text 2"/>
          <p:cNvSpPr/>
          <p:nvPr/>
        </p:nvSpPr>
        <p:spPr>
          <a:xfrm>
            <a:off x="91440" y="347472"/>
            <a:ext cx="8869680" cy="292608"/>
          </a:xfrm>
          <a:prstGeom prst="rect">
            <a:avLst/>
          </a:prstGeom>
          <a:noFill/>
          <a:ln/>
        </p:spPr>
        <p:txBody>
          <a:bodyPr wrap="square" lIns="0" tIns="0" rIns="0" bIns="0" rtlCol="0" anchor="ctr"/>
          <a:lstStyle/>
          <a:p>
            <a:pPr marL="0" indent="0">
              <a:buNone/>
            </a:pPr>
            <a:r>
              <a:rPr lang="en-US" sz="1200" dirty="0">
                <a:solidFill>
                  <a:srgbClr val="FFFFFF"/>
                </a:solidFill>
              </a:rPr>
              <a:t>Approaches that allow the dependent variable to follow a different distribution</a:t>
            </a:r>
            <a:endParaRPr lang="en-US" sz="1200" dirty="0"/>
          </a:p>
        </p:txBody>
      </p:sp>
      <p:sp>
        <p:nvSpPr>
          <p:cNvPr id="5" name="Shape 3"/>
          <p:cNvSpPr/>
          <p:nvPr/>
        </p:nvSpPr>
        <p:spPr>
          <a:xfrm>
            <a:off x="0" y="713232"/>
            <a:ext cx="438912" cy="1417320"/>
          </a:xfrm>
          <a:prstGeom prst="rect">
            <a:avLst/>
          </a:prstGeom>
          <a:solidFill>
            <a:schemeClr val="accent1">
              <a:lumMod val="50000"/>
            </a:schemeClr>
          </a:solidFill>
          <a:ln w="12700">
            <a:solidFill>
              <a:srgbClr val="7B1D1D"/>
            </a:solidFill>
            <a:prstDash val="solid"/>
          </a:ln>
        </p:spPr>
      </p:sp>
      <p:sp>
        <p:nvSpPr>
          <p:cNvPr id="6" name="Text 4"/>
          <p:cNvSpPr/>
          <p:nvPr/>
        </p:nvSpPr>
        <p:spPr>
          <a:xfrm>
            <a:off x="91440" y="713232"/>
            <a:ext cx="347472" cy="1417320"/>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7" name="Shape 5"/>
          <p:cNvSpPr/>
          <p:nvPr/>
        </p:nvSpPr>
        <p:spPr>
          <a:xfrm>
            <a:off x="438912" y="713232"/>
            <a:ext cx="1234440" cy="1417320"/>
          </a:xfrm>
          <a:prstGeom prst="rect">
            <a:avLst/>
          </a:prstGeom>
          <a:solidFill>
            <a:srgbClr val="F0F0F0"/>
          </a:solidFill>
          <a:ln w="12700">
            <a:solidFill>
              <a:srgbClr val="CCCCCC"/>
            </a:solidFill>
            <a:prstDash val="solid"/>
          </a:ln>
        </p:spPr>
      </p:sp>
      <p:sp>
        <p:nvSpPr>
          <p:cNvPr id="8" name="Text 6"/>
          <p:cNvSpPr/>
          <p:nvPr/>
        </p:nvSpPr>
        <p:spPr>
          <a:xfrm>
            <a:off x="438912" y="713232"/>
            <a:ext cx="1234440" cy="1417320"/>
          </a:xfrm>
          <a:prstGeom prst="rect">
            <a:avLst/>
          </a:prstGeom>
          <a:noFill/>
          <a:ln/>
        </p:spPr>
        <p:txBody>
          <a:bodyPr wrap="square" lIns="50800" tIns="50800" rIns="50800" bIns="50800" rtlCol="0" anchor="ctr"/>
          <a:lstStyle/>
          <a:p>
            <a:pPr marL="0" indent="0" algn="ctr">
              <a:buNone/>
            </a:pPr>
            <a:r>
              <a:rPr lang="en-US" sz="1600" b="1" dirty="0"/>
              <a:t>Poisson
Regression</a:t>
            </a:r>
            <a:endParaRPr lang="en-US" sz="1600" dirty="0"/>
          </a:p>
        </p:txBody>
      </p:sp>
      <p:sp>
        <p:nvSpPr>
          <p:cNvPr id="9" name="Shape 7"/>
          <p:cNvSpPr/>
          <p:nvPr/>
        </p:nvSpPr>
        <p:spPr>
          <a:xfrm>
            <a:off x="1673352" y="713232"/>
            <a:ext cx="10335768" cy="347472"/>
          </a:xfrm>
          <a:prstGeom prst="rect">
            <a:avLst/>
          </a:prstGeom>
          <a:solidFill>
            <a:srgbClr val="F0F0F0"/>
          </a:solidFill>
          <a:ln w="12700">
            <a:solidFill>
              <a:srgbClr val="CCCCCC"/>
            </a:solidFill>
            <a:prstDash val="solid"/>
          </a:ln>
        </p:spPr>
      </p:sp>
      <p:sp>
        <p:nvSpPr>
          <p:cNvPr id="10" name="Text 8"/>
          <p:cNvSpPr/>
          <p:nvPr/>
        </p:nvSpPr>
        <p:spPr>
          <a:xfrm>
            <a:off x="1764792" y="713232"/>
            <a:ext cx="7196328" cy="347472"/>
          </a:xfrm>
          <a:prstGeom prst="rect">
            <a:avLst/>
          </a:prstGeom>
          <a:noFill/>
          <a:ln/>
        </p:spPr>
        <p:txBody>
          <a:bodyPr wrap="square" lIns="0" tIns="0" rIns="0" bIns="0" rtlCol="0" anchor="ctr"/>
          <a:lstStyle/>
          <a:p>
            <a:pPr marL="0" indent="0">
              <a:buNone/>
            </a:pPr>
            <a:r>
              <a:rPr lang="en-US" sz="1200" dirty="0">
                <a:solidFill>
                  <a:srgbClr val="1A1A1A"/>
                </a:solidFill>
              </a:rPr>
              <a:t>log(λ) = α + β₄×news_lag + β₃×cong_lag</a:t>
            </a:r>
            <a:endParaRPr lang="en-US" sz="1200" dirty="0"/>
          </a:p>
        </p:txBody>
      </p:sp>
      <p:sp>
        <p:nvSpPr>
          <p:cNvPr id="11" name="Shape 9"/>
          <p:cNvSpPr/>
          <p:nvPr/>
        </p:nvSpPr>
        <p:spPr>
          <a:xfrm>
            <a:off x="1673351" y="1060704"/>
            <a:ext cx="10335767" cy="347472"/>
          </a:xfrm>
          <a:prstGeom prst="rect">
            <a:avLst/>
          </a:prstGeom>
          <a:solidFill>
            <a:schemeClr val="accent3">
              <a:lumMod val="20000"/>
              <a:lumOff val="80000"/>
            </a:schemeClr>
          </a:solidFill>
          <a:ln w="12700">
            <a:solidFill>
              <a:srgbClr val="CCCCCC"/>
            </a:solidFill>
            <a:prstDash val="solid"/>
          </a:ln>
        </p:spPr>
      </p:sp>
      <p:sp>
        <p:nvSpPr>
          <p:cNvPr id="12" name="Text 10"/>
          <p:cNvSpPr/>
          <p:nvPr/>
        </p:nvSpPr>
        <p:spPr>
          <a:xfrm>
            <a:off x="1764792" y="1060704"/>
            <a:ext cx="7196328" cy="347472"/>
          </a:xfrm>
          <a:prstGeom prst="rect">
            <a:avLst/>
          </a:prstGeom>
          <a:noFill/>
          <a:ln/>
        </p:spPr>
        <p:txBody>
          <a:bodyPr wrap="square" lIns="0" tIns="0" rIns="0" bIns="0" rtlCol="0" anchor="ctr"/>
          <a:lstStyle/>
          <a:p>
            <a:pPr marL="0" indent="0">
              <a:buNone/>
            </a:pPr>
            <a:r>
              <a:rPr lang="en-US" sz="1200" dirty="0">
                <a:solidFill>
                  <a:srgbClr val="1A1A1A"/>
                </a:solidFill>
              </a:rPr>
              <a:t>λ = exp(α + β₄×news_lag + β₃×cong_lag)</a:t>
            </a:r>
            <a:endParaRPr lang="en-US" sz="1200" dirty="0"/>
          </a:p>
        </p:txBody>
      </p:sp>
      <p:sp>
        <p:nvSpPr>
          <p:cNvPr id="13" name="Shape 11"/>
          <p:cNvSpPr/>
          <p:nvPr/>
        </p:nvSpPr>
        <p:spPr>
          <a:xfrm>
            <a:off x="1673352" y="1408176"/>
            <a:ext cx="10335766" cy="722376"/>
          </a:xfrm>
          <a:prstGeom prst="rect">
            <a:avLst/>
          </a:prstGeom>
          <a:solidFill>
            <a:schemeClr val="accent3">
              <a:lumMod val="40000"/>
              <a:lumOff val="60000"/>
            </a:schemeClr>
          </a:solidFill>
          <a:ln w="12700">
            <a:solidFill>
              <a:srgbClr val="E0AAAA"/>
            </a:solidFill>
            <a:prstDash val="solid"/>
          </a:ln>
        </p:spPr>
        <p:txBody>
          <a:bodyPr/>
          <a:lstStyle/>
          <a:p>
            <a:endParaRPr lang="en-UG" dirty="0"/>
          </a:p>
        </p:txBody>
      </p:sp>
      <p:sp>
        <p:nvSpPr>
          <p:cNvPr id="14" name="Text 12"/>
          <p:cNvSpPr/>
          <p:nvPr/>
        </p:nvSpPr>
        <p:spPr>
          <a:xfrm>
            <a:off x="1783080" y="1408176"/>
            <a:ext cx="7159752" cy="722376"/>
          </a:xfrm>
          <a:prstGeom prst="rect">
            <a:avLst/>
          </a:prstGeom>
          <a:noFill/>
          <a:ln/>
        </p:spPr>
        <p:txBody>
          <a:bodyPr wrap="square" lIns="0" tIns="0" rIns="0" bIns="0" rtlCol="0" anchor="ctr"/>
          <a:lstStyle/>
          <a:p>
            <a:r>
              <a:rPr lang="en-US" sz="1100" b="1" dirty="0">
                <a:solidFill>
                  <a:srgbClr val="1A1A1A"/>
                </a:solidFill>
              </a:rPr>
              <a:t>Key Findings;</a:t>
            </a:r>
          </a:p>
          <a:p>
            <a:pPr marL="171450" indent="-171450">
              <a:buFont typeface="Wingdings" pitchFamily="2" charset="2"/>
              <a:buChar char="Ø"/>
            </a:pPr>
            <a:endParaRPr lang="en-US" sz="1100" dirty="0">
              <a:solidFill>
                <a:srgbClr val="1A1A1A"/>
              </a:solidFill>
            </a:endParaRPr>
          </a:p>
          <a:p>
            <a:pPr marL="171450" indent="-171450">
              <a:buFont typeface="Wingdings" pitchFamily="2" charset="2"/>
              <a:buChar char="Ø"/>
            </a:pPr>
            <a:r>
              <a:rPr lang="en-US" sz="1100" dirty="0">
                <a:solidFill>
                  <a:srgbClr val="1A1A1A"/>
                </a:solidFill>
              </a:rPr>
              <a:t>But Var=Mean assumption still violated (Var/Mean=2.25).</a:t>
            </a:r>
            <a:endParaRPr lang="en-US" sz="1100" dirty="0"/>
          </a:p>
        </p:txBody>
      </p:sp>
      <p:sp>
        <p:nvSpPr>
          <p:cNvPr id="15" name="Shape 13"/>
          <p:cNvSpPr/>
          <p:nvPr/>
        </p:nvSpPr>
        <p:spPr>
          <a:xfrm>
            <a:off x="0" y="2212848"/>
            <a:ext cx="438912" cy="4261104"/>
          </a:xfrm>
          <a:prstGeom prst="rect">
            <a:avLst/>
          </a:prstGeom>
          <a:solidFill>
            <a:schemeClr val="accent1">
              <a:lumMod val="50000"/>
            </a:schemeClr>
          </a:solidFill>
          <a:ln w="12700">
            <a:solidFill>
              <a:srgbClr val="1A7070"/>
            </a:solidFill>
            <a:prstDash val="solid"/>
          </a:ln>
        </p:spPr>
      </p:sp>
      <p:sp>
        <p:nvSpPr>
          <p:cNvPr id="16" name="Text 14"/>
          <p:cNvSpPr/>
          <p:nvPr/>
        </p:nvSpPr>
        <p:spPr>
          <a:xfrm>
            <a:off x="91440" y="2212848"/>
            <a:ext cx="347472" cy="2816352"/>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7" name="Shape 15"/>
          <p:cNvSpPr/>
          <p:nvPr/>
        </p:nvSpPr>
        <p:spPr>
          <a:xfrm>
            <a:off x="438912" y="2212848"/>
            <a:ext cx="1234440" cy="4261104"/>
          </a:xfrm>
          <a:prstGeom prst="rect">
            <a:avLst/>
          </a:prstGeom>
          <a:solidFill>
            <a:srgbClr val="F0F0F0"/>
          </a:solidFill>
          <a:ln w="12700">
            <a:solidFill>
              <a:srgbClr val="CCCCCC"/>
            </a:solidFill>
            <a:prstDash val="solid"/>
          </a:ln>
        </p:spPr>
      </p:sp>
      <p:sp>
        <p:nvSpPr>
          <p:cNvPr id="18" name="Text 16"/>
          <p:cNvSpPr/>
          <p:nvPr/>
        </p:nvSpPr>
        <p:spPr>
          <a:xfrm>
            <a:off x="438912" y="2212848"/>
            <a:ext cx="1234440" cy="4261104"/>
          </a:xfrm>
          <a:prstGeom prst="rect">
            <a:avLst/>
          </a:prstGeom>
          <a:noFill/>
          <a:ln/>
        </p:spPr>
        <p:txBody>
          <a:bodyPr wrap="square" lIns="50800" tIns="50800" rIns="50800" bIns="50800" rtlCol="0" anchor="ctr"/>
          <a:lstStyle/>
          <a:p>
            <a:pPr marL="0" indent="0" algn="ctr">
              <a:buNone/>
            </a:pPr>
            <a:r>
              <a:rPr lang="en-US" sz="1600" b="1" dirty="0"/>
              <a:t>Quasi
Poisson</a:t>
            </a:r>
            <a:endParaRPr lang="en-US" sz="1600" dirty="0"/>
          </a:p>
        </p:txBody>
      </p:sp>
      <p:sp>
        <p:nvSpPr>
          <p:cNvPr id="19" name="Shape 17"/>
          <p:cNvSpPr/>
          <p:nvPr/>
        </p:nvSpPr>
        <p:spPr>
          <a:xfrm>
            <a:off x="1673351" y="2212848"/>
            <a:ext cx="10335765" cy="329184"/>
          </a:xfrm>
          <a:prstGeom prst="rect">
            <a:avLst/>
          </a:prstGeom>
          <a:solidFill>
            <a:srgbClr val="F0F0F0"/>
          </a:solidFill>
          <a:ln w="12700">
            <a:solidFill>
              <a:srgbClr val="CCCCCC"/>
            </a:solidFill>
            <a:prstDash val="solid"/>
          </a:ln>
        </p:spPr>
      </p:sp>
      <p:sp>
        <p:nvSpPr>
          <p:cNvPr id="20" name="Text 18"/>
          <p:cNvSpPr/>
          <p:nvPr/>
        </p:nvSpPr>
        <p:spPr>
          <a:xfrm>
            <a:off x="1764792" y="2212848"/>
            <a:ext cx="7196328" cy="329184"/>
          </a:xfrm>
          <a:prstGeom prst="rect">
            <a:avLst/>
          </a:prstGeom>
          <a:noFill/>
          <a:ln/>
        </p:spPr>
        <p:txBody>
          <a:bodyPr wrap="square" lIns="0" tIns="0" rIns="0" bIns="0" rtlCol="0" anchor="ctr"/>
          <a:lstStyle/>
          <a:p>
            <a:pPr marL="0" indent="0">
              <a:buNone/>
            </a:pPr>
            <a:r>
              <a:rPr lang="en-US" sz="1200" dirty="0">
                <a:solidFill>
                  <a:srgbClr val="1A1A1A"/>
                </a:solidFill>
              </a:rPr>
              <a:t>log(λ) = α + β₄×news_lag + β₃×cong_lag</a:t>
            </a:r>
            <a:endParaRPr lang="en-US" sz="1200" dirty="0"/>
          </a:p>
        </p:txBody>
      </p:sp>
      <p:sp>
        <p:nvSpPr>
          <p:cNvPr id="21" name="Shape 19"/>
          <p:cNvSpPr/>
          <p:nvPr/>
        </p:nvSpPr>
        <p:spPr>
          <a:xfrm>
            <a:off x="1673352" y="2542032"/>
            <a:ext cx="10335764" cy="329184"/>
          </a:xfrm>
          <a:prstGeom prst="rect">
            <a:avLst/>
          </a:prstGeom>
          <a:solidFill>
            <a:schemeClr val="accent3">
              <a:lumMod val="20000"/>
              <a:lumOff val="80000"/>
            </a:schemeClr>
          </a:solidFill>
          <a:ln w="12700">
            <a:solidFill>
              <a:srgbClr val="CCCCCC"/>
            </a:solidFill>
            <a:prstDash val="solid"/>
          </a:ln>
        </p:spPr>
      </p:sp>
      <p:sp>
        <p:nvSpPr>
          <p:cNvPr id="22" name="Text 20"/>
          <p:cNvSpPr/>
          <p:nvPr/>
        </p:nvSpPr>
        <p:spPr>
          <a:xfrm>
            <a:off x="1764792" y="2542032"/>
            <a:ext cx="7196328" cy="329184"/>
          </a:xfrm>
          <a:prstGeom prst="rect">
            <a:avLst/>
          </a:prstGeom>
          <a:noFill/>
          <a:ln/>
        </p:spPr>
        <p:txBody>
          <a:bodyPr wrap="square" lIns="0" tIns="0" rIns="0" bIns="0" rtlCol="0" anchor="ctr"/>
          <a:lstStyle/>
          <a:p>
            <a:pPr marL="0" indent="0">
              <a:buNone/>
            </a:pPr>
            <a:r>
              <a:rPr lang="en-US" sz="1200" dirty="0">
                <a:solidFill>
                  <a:srgbClr val="1A1A1A"/>
                </a:solidFill>
              </a:rPr>
              <a:t>Var(cong_t) = φ × Mean(cong_t)          where φ = dispersion parameter</a:t>
            </a:r>
            <a:endParaRPr lang="en-US" sz="1200" dirty="0"/>
          </a:p>
        </p:txBody>
      </p:sp>
      <p:sp>
        <p:nvSpPr>
          <p:cNvPr id="23" name="Shape 21"/>
          <p:cNvSpPr/>
          <p:nvPr/>
        </p:nvSpPr>
        <p:spPr>
          <a:xfrm>
            <a:off x="1673352" y="2871216"/>
            <a:ext cx="10335764" cy="347472"/>
          </a:xfrm>
          <a:prstGeom prst="rect">
            <a:avLst/>
          </a:prstGeom>
          <a:solidFill>
            <a:schemeClr val="accent3">
              <a:lumMod val="20000"/>
              <a:lumOff val="80000"/>
            </a:schemeClr>
          </a:solidFill>
          <a:ln w="12700">
            <a:solidFill>
              <a:srgbClr val="CCCCCC"/>
            </a:solidFill>
            <a:prstDash val="solid"/>
          </a:ln>
        </p:spPr>
      </p:sp>
      <p:sp>
        <p:nvSpPr>
          <p:cNvPr id="24" name="Text 22"/>
          <p:cNvSpPr/>
          <p:nvPr/>
        </p:nvSpPr>
        <p:spPr>
          <a:xfrm>
            <a:off x="1764792" y="2871216"/>
            <a:ext cx="10244322" cy="347472"/>
          </a:xfrm>
          <a:prstGeom prst="rect">
            <a:avLst/>
          </a:prstGeom>
          <a:noFill/>
          <a:ln/>
        </p:spPr>
        <p:txBody>
          <a:bodyPr wrap="square" lIns="0" tIns="0" rIns="0" bIns="0" rtlCol="0" anchor="ctr"/>
          <a:lstStyle/>
          <a:p>
            <a:pPr marL="0" indent="0">
              <a:buNone/>
            </a:pPr>
            <a:r>
              <a:rPr lang="en-US" sz="1150" b="1" dirty="0">
                <a:solidFill>
                  <a:srgbClr val="1A1A1A"/>
                </a:solidFill>
              </a:rPr>
              <a:t>Dispersion parameter:  </a:t>
            </a:r>
            <a:r>
              <a:rPr lang="en-US" sz="1150" dirty="0">
                <a:solidFill>
                  <a:srgbClr val="1A1A1A"/>
                </a:solidFill>
              </a:rPr>
              <a:t>φ = Σ[(cong_t − λ̂)² / λ̂] / (n − p)      = </a:t>
            </a:r>
            <a:r>
              <a:rPr lang="en-US" sz="1150" b="1" dirty="0"/>
              <a:t>2.50</a:t>
            </a:r>
            <a:endParaRPr lang="en-US" sz="1150" dirty="0"/>
          </a:p>
        </p:txBody>
      </p:sp>
      <p:sp>
        <p:nvSpPr>
          <p:cNvPr id="25" name="Shape 23"/>
          <p:cNvSpPr/>
          <p:nvPr/>
        </p:nvSpPr>
        <p:spPr>
          <a:xfrm>
            <a:off x="1673351" y="3218688"/>
            <a:ext cx="10335764" cy="1170432"/>
          </a:xfrm>
          <a:prstGeom prst="rect">
            <a:avLst/>
          </a:prstGeom>
          <a:solidFill>
            <a:schemeClr val="accent3">
              <a:lumMod val="20000"/>
              <a:lumOff val="80000"/>
            </a:schemeClr>
          </a:solidFill>
          <a:ln w="12700">
            <a:solidFill>
              <a:srgbClr val="AACCAA"/>
            </a:solidFill>
            <a:prstDash val="solid"/>
          </a:ln>
        </p:spPr>
      </p:sp>
      <p:sp>
        <p:nvSpPr>
          <p:cNvPr id="26" name="Text 24"/>
          <p:cNvSpPr/>
          <p:nvPr/>
        </p:nvSpPr>
        <p:spPr>
          <a:xfrm>
            <a:off x="1783080" y="3255264"/>
            <a:ext cx="594360" cy="201168"/>
          </a:xfrm>
          <a:prstGeom prst="rect">
            <a:avLst/>
          </a:prstGeom>
          <a:noFill/>
          <a:ln/>
        </p:spPr>
        <p:txBody>
          <a:bodyPr wrap="square" lIns="0" tIns="0" rIns="0" bIns="0" rtlCol="0" anchor="t"/>
          <a:lstStyle/>
          <a:p>
            <a:pPr marL="0" indent="0">
              <a:buNone/>
            </a:pPr>
            <a:r>
              <a:rPr lang="en-US" sz="1000" b="1" dirty="0"/>
              <a:t>Where:</a:t>
            </a:r>
            <a:endParaRPr lang="en-US" sz="1000" dirty="0"/>
          </a:p>
        </p:txBody>
      </p:sp>
      <p:sp>
        <p:nvSpPr>
          <p:cNvPr id="27" name="Text 25"/>
          <p:cNvSpPr/>
          <p:nvPr/>
        </p:nvSpPr>
        <p:spPr>
          <a:xfrm>
            <a:off x="1783080" y="3438144"/>
            <a:ext cx="3552444" cy="173736"/>
          </a:xfrm>
          <a:prstGeom prst="rect">
            <a:avLst/>
          </a:prstGeom>
          <a:noFill/>
          <a:ln/>
        </p:spPr>
        <p:txBody>
          <a:bodyPr wrap="square" lIns="0" tIns="0" rIns="0" bIns="0" rtlCol="0" anchor="t"/>
          <a:lstStyle/>
          <a:p>
            <a:pPr marL="0" indent="0">
              <a:buNone/>
            </a:pPr>
            <a:r>
              <a:rPr lang="en-US" sz="950" b="1" dirty="0"/>
              <a:t>cong_tᵢ</a:t>
            </a:r>
            <a:r>
              <a:rPr lang="en-US" sz="950" dirty="0"/>
              <a:t> </a:t>
            </a:r>
            <a:r>
              <a:rPr lang="en-US" sz="950" dirty="0">
                <a:solidFill>
                  <a:srgbClr val="1A1A1A"/>
                </a:solidFill>
              </a:rPr>
              <a:t>= observed congressional document count in month i</a:t>
            </a:r>
            <a:endParaRPr lang="en-US" sz="950" dirty="0"/>
          </a:p>
        </p:txBody>
      </p:sp>
      <p:sp>
        <p:nvSpPr>
          <p:cNvPr id="28" name="Text 26"/>
          <p:cNvSpPr/>
          <p:nvPr/>
        </p:nvSpPr>
        <p:spPr>
          <a:xfrm>
            <a:off x="5472684" y="3438144"/>
            <a:ext cx="3552444" cy="173736"/>
          </a:xfrm>
          <a:prstGeom prst="rect">
            <a:avLst/>
          </a:prstGeom>
          <a:noFill/>
          <a:ln/>
        </p:spPr>
        <p:txBody>
          <a:bodyPr wrap="square" lIns="0" tIns="0" rIns="0" bIns="0" rtlCol="0" anchor="t"/>
          <a:lstStyle/>
          <a:p>
            <a:pPr marL="0" indent="0">
              <a:buNone/>
            </a:pPr>
            <a:r>
              <a:rPr lang="en-US" sz="950" b="1" dirty="0"/>
              <a:t>λ̂ᵢ</a:t>
            </a:r>
            <a:r>
              <a:rPr lang="en-US" sz="950" dirty="0"/>
              <a:t> </a:t>
            </a:r>
            <a:r>
              <a:rPr lang="en-US" sz="950" dirty="0">
                <a:solidFill>
                  <a:srgbClr val="1A1A1A"/>
                </a:solidFill>
              </a:rPr>
              <a:t>= fitted (expected) Poisson count in month i</a:t>
            </a:r>
            <a:endParaRPr lang="en-US" sz="950" dirty="0"/>
          </a:p>
        </p:txBody>
      </p:sp>
      <p:sp>
        <p:nvSpPr>
          <p:cNvPr id="29" name="Text 27"/>
          <p:cNvSpPr/>
          <p:nvPr/>
        </p:nvSpPr>
        <p:spPr>
          <a:xfrm>
            <a:off x="1783080" y="3611880"/>
            <a:ext cx="3552444" cy="173736"/>
          </a:xfrm>
          <a:prstGeom prst="rect">
            <a:avLst/>
          </a:prstGeom>
          <a:noFill/>
          <a:ln/>
        </p:spPr>
        <p:txBody>
          <a:bodyPr wrap="square" lIns="0" tIns="0" rIns="0" bIns="0" rtlCol="0" anchor="t"/>
          <a:lstStyle/>
          <a:p>
            <a:pPr marL="0" indent="0">
              <a:buNone/>
            </a:pPr>
            <a:r>
              <a:rPr lang="en-US" sz="950" b="1" dirty="0"/>
              <a:t>n</a:t>
            </a:r>
            <a:r>
              <a:rPr lang="en-US" sz="950" dirty="0"/>
              <a:t> </a:t>
            </a:r>
            <a:r>
              <a:rPr lang="en-US" sz="950" dirty="0">
                <a:solidFill>
                  <a:srgbClr val="1A1A1A"/>
                </a:solidFill>
              </a:rPr>
              <a:t>= number of observations (371 months)</a:t>
            </a:r>
            <a:endParaRPr lang="en-US" sz="950" dirty="0"/>
          </a:p>
        </p:txBody>
      </p:sp>
      <p:sp>
        <p:nvSpPr>
          <p:cNvPr id="30" name="Text 28"/>
          <p:cNvSpPr/>
          <p:nvPr/>
        </p:nvSpPr>
        <p:spPr>
          <a:xfrm>
            <a:off x="5472684" y="3611880"/>
            <a:ext cx="3552444" cy="173736"/>
          </a:xfrm>
          <a:prstGeom prst="rect">
            <a:avLst/>
          </a:prstGeom>
          <a:noFill/>
          <a:ln/>
        </p:spPr>
        <p:txBody>
          <a:bodyPr wrap="square" lIns="0" tIns="0" rIns="0" bIns="0" rtlCol="0" anchor="t"/>
          <a:lstStyle/>
          <a:p>
            <a:pPr marL="0" indent="0">
              <a:buNone/>
            </a:pPr>
            <a:r>
              <a:rPr lang="en-US" sz="950" b="1" dirty="0"/>
              <a:t>p</a:t>
            </a:r>
            <a:r>
              <a:rPr lang="en-US" sz="950" dirty="0">
                <a:solidFill>
                  <a:srgbClr val="1A1A1A"/>
                </a:solidFill>
              </a:rPr>
              <a:t> = number of estimated parameters (3: α, β₄, β₃)</a:t>
            </a:r>
            <a:endParaRPr lang="en-US" sz="950" dirty="0"/>
          </a:p>
        </p:txBody>
      </p:sp>
      <p:sp>
        <p:nvSpPr>
          <p:cNvPr id="31" name="Text 29"/>
          <p:cNvSpPr/>
          <p:nvPr/>
        </p:nvSpPr>
        <p:spPr>
          <a:xfrm>
            <a:off x="1783080" y="3785616"/>
            <a:ext cx="3552444" cy="173736"/>
          </a:xfrm>
          <a:prstGeom prst="rect">
            <a:avLst/>
          </a:prstGeom>
          <a:noFill/>
          <a:ln/>
        </p:spPr>
        <p:txBody>
          <a:bodyPr wrap="square" lIns="0" tIns="0" rIns="0" bIns="0" rtlCol="0" anchor="t"/>
          <a:lstStyle/>
          <a:p>
            <a:pPr marL="0" indent="0">
              <a:buNone/>
            </a:pPr>
            <a:r>
              <a:rPr lang="en-US" sz="950" b="1" dirty="0"/>
              <a:t>n − p</a:t>
            </a:r>
            <a:r>
              <a:rPr lang="en-US" sz="950" dirty="0"/>
              <a:t> </a:t>
            </a:r>
            <a:r>
              <a:rPr lang="en-US" sz="950" dirty="0">
                <a:solidFill>
                  <a:srgbClr val="1A1A1A"/>
                </a:solidFill>
              </a:rPr>
              <a:t>= degrees of freedom (368)</a:t>
            </a:r>
            <a:endParaRPr lang="en-US" sz="950" dirty="0"/>
          </a:p>
        </p:txBody>
      </p:sp>
      <p:sp>
        <p:nvSpPr>
          <p:cNvPr id="32" name="Text 30"/>
          <p:cNvSpPr/>
          <p:nvPr/>
        </p:nvSpPr>
        <p:spPr>
          <a:xfrm>
            <a:off x="5472684" y="3785616"/>
            <a:ext cx="3552444" cy="173736"/>
          </a:xfrm>
          <a:prstGeom prst="rect">
            <a:avLst/>
          </a:prstGeom>
          <a:noFill/>
          <a:ln/>
        </p:spPr>
        <p:txBody>
          <a:bodyPr wrap="square" lIns="0" tIns="0" rIns="0" bIns="0" rtlCol="0" anchor="t"/>
          <a:lstStyle/>
          <a:p>
            <a:pPr marL="0" indent="0">
              <a:buNone/>
            </a:pPr>
            <a:r>
              <a:rPr lang="en-US" sz="950" b="1" dirty="0"/>
              <a:t>Σ</a:t>
            </a:r>
            <a:r>
              <a:rPr lang="en-US" sz="950" dirty="0">
                <a:solidFill>
                  <a:srgbClr val="1A1A1A"/>
                </a:solidFill>
              </a:rPr>
              <a:t> = sum over all months i</a:t>
            </a:r>
            <a:endParaRPr lang="en-US" sz="950" dirty="0"/>
          </a:p>
        </p:txBody>
      </p:sp>
      <p:sp>
        <p:nvSpPr>
          <p:cNvPr id="35" name="Shape 33"/>
          <p:cNvSpPr/>
          <p:nvPr/>
        </p:nvSpPr>
        <p:spPr>
          <a:xfrm>
            <a:off x="1673351" y="4389120"/>
            <a:ext cx="10335763" cy="2084832"/>
          </a:xfrm>
          <a:prstGeom prst="rect">
            <a:avLst/>
          </a:prstGeom>
          <a:solidFill>
            <a:schemeClr val="accent3">
              <a:lumMod val="40000"/>
              <a:lumOff val="60000"/>
            </a:schemeClr>
          </a:solidFill>
          <a:ln w="12700">
            <a:solidFill>
              <a:srgbClr val="AADDDD"/>
            </a:solidFill>
            <a:prstDash val="solid"/>
          </a:ln>
        </p:spPr>
      </p:sp>
      <p:sp>
        <p:nvSpPr>
          <p:cNvPr id="36" name="Text 34"/>
          <p:cNvSpPr/>
          <p:nvPr/>
        </p:nvSpPr>
        <p:spPr>
          <a:xfrm>
            <a:off x="1673349" y="4389120"/>
            <a:ext cx="10335765" cy="2084832"/>
          </a:xfrm>
          <a:prstGeom prst="rect">
            <a:avLst/>
          </a:prstGeom>
          <a:noFill/>
          <a:ln/>
        </p:spPr>
        <p:txBody>
          <a:bodyPr wrap="square" lIns="101600" tIns="101600" rIns="101600" bIns="101600" rtlCol="0" anchor="t"/>
          <a:lstStyle/>
          <a:p>
            <a:pPr marL="0" indent="0">
              <a:buNone/>
            </a:pPr>
            <a:r>
              <a:rPr lang="en-US" sz="1100" b="1" dirty="0">
                <a:solidFill>
                  <a:srgbClr val="1A1A1A"/>
                </a:solidFill>
              </a:rPr>
              <a:t>Key Findings;</a:t>
            </a:r>
          </a:p>
          <a:p>
            <a:pPr marL="0" indent="0">
              <a:buNone/>
            </a:pPr>
            <a:endParaRPr lang="en-US" sz="1100" b="1" dirty="0">
              <a:solidFill>
                <a:srgbClr val="1A1A1A"/>
              </a:solidFill>
            </a:endParaRPr>
          </a:p>
          <a:p>
            <a:pPr marL="171450" indent="-171450">
              <a:buFont typeface="Wingdings" pitchFamily="2" charset="2"/>
              <a:buChar char="Ø"/>
            </a:pPr>
            <a:r>
              <a:rPr lang="en-US" sz="1100" dirty="0">
                <a:solidFill>
                  <a:srgbClr val="1A1A1A"/>
                </a:solidFill>
              </a:rPr>
              <a:t>Poisson model, but allowing the dispersion parameter φ to be ≠ 1</a:t>
            </a:r>
          </a:p>
          <a:p>
            <a:endParaRPr lang="en-US" sz="1100" dirty="0"/>
          </a:p>
          <a:p>
            <a:pPr marL="171450" indent="-171450">
              <a:buFont typeface="Wingdings" pitchFamily="2" charset="2"/>
              <a:buChar char="Ø"/>
            </a:pPr>
            <a:r>
              <a:rPr lang="en-US" sz="1100" dirty="0">
                <a:solidFill>
                  <a:srgbClr val="1A1A1A"/>
                </a:solidFill>
              </a:rPr>
              <a:t>Variance = φ × Mean</a:t>
            </a:r>
          </a:p>
          <a:p>
            <a:endParaRPr lang="en-US" sz="1100" dirty="0"/>
          </a:p>
          <a:p>
            <a:pPr marL="171450" indent="-171450">
              <a:buFont typeface="Wingdings" pitchFamily="2" charset="2"/>
              <a:buChar char="Ø"/>
            </a:pPr>
            <a:r>
              <a:rPr lang="en-US" sz="1100" dirty="0">
                <a:solidFill>
                  <a:srgbClr val="1A1A1A"/>
                </a:solidFill>
              </a:rPr>
              <a:t>φ = 1  → standard Poisson (assumed)     </a:t>
            </a:r>
            <a:r>
              <a:rPr lang="en-US" sz="1100" b="1" dirty="0"/>
              <a:t>φ = 2.50</a:t>
            </a:r>
            <a:r>
              <a:rPr lang="en-US" sz="1100" dirty="0"/>
              <a:t>  </a:t>
            </a:r>
            <a:r>
              <a:rPr lang="en-US" sz="1100" dirty="0">
                <a:solidFill>
                  <a:srgbClr val="1A1A1A"/>
                </a:solidFill>
              </a:rPr>
              <a:t>→ variance is 2.5× what Poisson assumes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chemeClr val="accent1">
              <a:lumMod val="50000"/>
            </a:schemeClr>
          </a:solidFill>
          <a:ln w="12700">
            <a:solidFill>
              <a:srgbClr val="2E7D32"/>
            </a:solidFill>
            <a:prstDash val="solid"/>
          </a:ln>
        </p:spPr>
      </p:sp>
      <p:sp>
        <p:nvSpPr>
          <p:cNvPr id="3" name="Text 1"/>
          <p:cNvSpPr/>
          <p:nvPr/>
        </p:nvSpPr>
        <p:spPr>
          <a:xfrm>
            <a:off x="228600" y="0"/>
            <a:ext cx="11887200" cy="384048"/>
          </a:xfrm>
          <a:prstGeom prst="rect">
            <a:avLst/>
          </a:prstGeom>
          <a:noFill/>
          <a:ln/>
        </p:spPr>
        <p:txBody>
          <a:bodyPr wrap="square" lIns="0" tIns="0" rIns="0" bIns="0" rtlCol="0" anchor="ctr"/>
          <a:lstStyle/>
          <a:p>
            <a:pPr marL="0" indent="0">
              <a:buNone/>
            </a:pPr>
            <a:r>
              <a:rPr lang="en-US" sz="2000" b="1" dirty="0">
                <a:solidFill>
                  <a:srgbClr val="FFFFFF"/>
                </a:solidFill>
              </a:rPr>
              <a:t>Use of Generalized Linear Models (GLM)</a:t>
            </a:r>
            <a:endParaRPr lang="en-US" sz="2000" dirty="0"/>
          </a:p>
        </p:txBody>
      </p:sp>
      <p:sp>
        <p:nvSpPr>
          <p:cNvPr id="4" name="Text 2"/>
          <p:cNvSpPr/>
          <p:nvPr/>
        </p:nvSpPr>
        <p:spPr>
          <a:xfrm>
            <a:off x="228600" y="384048"/>
            <a:ext cx="11887200" cy="301752"/>
          </a:xfrm>
          <a:prstGeom prst="rect">
            <a:avLst/>
          </a:prstGeom>
          <a:noFill/>
          <a:ln/>
        </p:spPr>
        <p:txBody>
          <a:bodyPr wrap="square" lIns="0" tIns="0" rIns="0" bIns="0" rtlCol="0" anchor="ctr"/>
          <a:lstStyle/>
          <a:p>
            <a:pPr marL="0" indent="0">
              <a:buNone/>
            </a:pPr>
            <a:r>
              <a:rPr lang="en-US" sz="1200" dirty="0">
                <a:solidFill>
                  <a:srgbClr val="FFFFFF"/>
                </a:solidFill>
              </a:rPr>
              <a:t>Approaches that allow the dependent variable to follow a different distribution</a:t>
            </a:r>
            <a:endParaRPr lang="en-US" sz="1200" dirty="0"/>
          </a:p>
        </p:txBody>
      </p:sp>
      <p:sp>
        <p:nvSpPr>
          <p:cNvPr id="5" name="Shape 3"/>
          <p:cNvSpPr/>
          <p:nvPr/>
        </p:nvSpPr>
        <p:spPr>
          <a:xfrm>
            <a:off x="0" y="777240"/>
            <a:ext cx="502920" cy="5394960"/>
          </a:xfrm>
          <a:prstGeom prst="rect">
            <a:avLst/>
          </a:prstGeom>
          <a:solidFill>
            <a:schemeClr val="accent1">
              <a:lumMod val="50000"/>
            </a:schemeClr>
          </a:solidFill>
          <a:ln w="12700">
            <a:solidFill>
              <a:srgbClr val="1B5E20"/>
            </a:solidFill>
            <a:prstDash val="solid"/>
          </a:ln>
        </p:spPr>
      </p:sp>
      <p:sp>
        <p:nvSpPr>
          <p:cNvPr id="6" name="Text 4"/>
          <p:cNvSpPr/>
          <p:nvPr/>
        </p:nvSpPr>
        <p:spPr>
          <a:xfrm>
            <a:off x="91440" y="777240"/>
            <a:ext cx="411480" cy="5394960"/>
          </a:xfrm>
          <a:prstGeom prst="rect">
            <a:avLst/>
          </a:prstGeom>
          <a:noFill/>
          <a:ln/>
        </p:spPr>
        <p:txBody>
          <a:bodyPr wrap="square" lIns="0" tIns="0" rIns="0" bIns="0" rtlCol="0" anchor="ctr"/>
          <a:lstStyle/>
          <a:p>
            <a:pPr marL="0" indent="0" algn="ctr">
              <a:buNone/>
            </a:pPr>
            <a:r>
              <a:rPr lang="en-US" sz="2600" b="1" dirty="0">
                <a:solidFill>
                  <a:srgbClr val="FFFFFF"/>
                </a:solidFill>
              </a:rPr>
              <a:t>3</a:t>
            </a:r>
            <a:endParaRPr lang="en-US" sz="2600" dirty="0"/>
          </a:p>
        </p:txBody>
      </p:sp>
      <p:sp>
        <p:nvSpPr>
          <p:cNvPr id="7" name="Shape 5"/>
          <p:cNvSpPr/>
          <p:nvPr/>
        </p:nvSpPr>
        <p:spPr>
          <a:xfrm>
            <a:off x="502920" y="777240"/>
            <a:ext cx="1965960" cy="5394960"/>
          </a:xfrm>
          <a:prstGeom prst="rect">
            <a:avLst/>
          </a:prstGeom>
          <a:solidFill>
            <a:srgbClr val="F0F0F0"/>
          </a:solidFill>
          <a:ln w="12700">
            <a:solidFill>
              <a:srgbClr val="CCCCCC"/>
            </a:solidFill>
            <a:prstDash val="solid"/>
          </a:ln>
        </p:spPr>
      </p:sp>
      <p:sp>
        <p:nvSpPr>
          <p:cNvPr id="8" name="Text 6"/>
          <p:cNvSpPr/>
          <p:nvPr/>
        </p:nvSpPr>
        <p:spPr>
          <a:xfrm>
            <a:off x="502920" y="777240"/>
            <a:ext cx="1965960" cy="5394960"/>
          </a:xfrm>
          <a:prstGeom prst="rect">
            <a:avLst/>
          </a:prstGeom>
          <a:noFill/>
          <a:ln/>
        </p:spPr>
        <p:txBody>
          <a:bodyPr wrap="square" lIns="50800" tIns="50800" rIns="50800" bIns="50800" rtlCol="0" anchor="ctr"/>
          <a:lstStyle/>
          <a:p>
            <a:pPr marL="0" indent="0" algn="ctr">
              <a:buNone/>
            </a:pPr>
            <a:r>
              <a:rPr lang="en-US" sz="1500" b="1" dirty="0"/>
              <a:t>Negative
Binomial</a:t>
            </a:r>
            <a:endParaRPr lang="en-US" sz="1500" dirty="0"/>
          </a:p>
        </p:txBody>
      </p:sp>
      <p:sp>
        <p:nvSpPr>
          <p:cNvPr id="9" name="Shape 7"/>
          <p:cNvSpPr/>
          <p:nvPr/>
        </p:nvSpPr>
        <p:spPr>
          <a:xfrm>
            <a:off x="2468880" y="768096"/>
            <a:ext cx="9464040" cy="365759"/>
          </a:xfrm>
          <a:prstGeom prst="rect">
            <a:avLst/>
          </a:prstGeom>
          <a:solidFill>
            <a:schemeClr val="accent3">
              <a:lumMod val="20000"/>
              <a:lumOff val="80000"/>
            </a:schemeClr>
          </a:solidFill>
          <a:ln w="12700">
            <a:solidFill>
              <a:srgbClr val="CCCCCC"/>
            </a:solidFill>
            <a:prstDash val="solid"/>
          </a:ln>
        </p:spPr>
        <p:txBody>
          <a:bodyPr/>
          <a:lstStyle/>
          <a:p>
            <a:endParaRPr lang="en-UG" dirty="0"/>
          </a:p>
        </p:txBody>
      </p:sp>
      <p:sp>
        <p:nvSpPr>
          <p:cNvPr id="10" name="Text 8"/>
          <p:cNvSpPr/>
          <p:nvPr/>
        </p:nvSpPr>
        <p:spPr>
          <a:xfrm>
            <a:off x="2468879" y="777240"/>
            <a:ext cx="9326881" cy="365760"/>
          </a:xfrm>
          <a:prstGeom prst="rect">
            <a:avLst/>
          </a:prstGeom>
          <a:noFill/>
          <a:ln/>
        </p:spPr>
        <p:txBody>
          <a:bodyPr wrap="square" lIns="0" tIns="0" rIns="0" bIns="0" rtlCol="0" anchor="ctr"/>
          <a:lstStyle/>
          <a:p>
            <a:pPr marL="0" indent="0">
              <a:buNone/>
            </a:pPr>
            <a:r>
              <a:rPr lang="en-US" sz="1300" dirty="0">
                <a:solidFill>
                  <a:srgbClr val="1A1A1A"/>
                </a:solidFill>
              </a:rPr>
              <a:t>   </a:t>
            </a:r>
            <a:r>
              <a:rPr lang="en-US" sz="1300" dirty="0" err="1">
                <a:solidFill>
                  <a:srgbClr val="1A1A1A"/>
                </a:solidFill>
              </a:rPr>
              <a:t>congress_t</a:t>
            </a:r>
            <a:r>
              <a:rPr lang="en-US" sz="1300" dirty="0">
                <a:solidFill>
                  <a:srgbClr val="1A1A1A"/>
                </a:solidFill>
              </a:rPr>
              <a:t>  ~  NegBin(μ, θ)</a:t>
            </a:r>
            <a:endParaRPr lang="en-US" sz="1300" dirty="0"/>
          </a:p>
        </p:txBody>
      </p:sp>
      <p:sp>
        <p:nvSpPr>
          <p:cNvPr id="11" name="Shape 9"/>
          <p:cNvSpPr/>
          <p:nvPr/>
        </p:nvSpPr>
        <p:spPr>
          <a:xfrm>
            <a:off x="2468880" y="1143000"/>
            <a:ext cx="9464040" cy="365760"/>
          </a:xfrm>
          <a:prstGeom prst="rect">
            <a:avLst/>
          </a:prstGeom>
          <a:solidFill>
            <a:schemeClr val="accent3">
              <a:lumMod val="20000"/>
              <a:lumOff val="80000"/>
            </a:schemeClr>
          </a:solidFill>
          <a:ln w="12700">
            <a:solidFill>
              <a:srgbClr val="CCCCCC"/>
            </a:solidFill>
            <a:prstDash val="solid"/>
          </a:ln>
        </p:spPr>
      </p:sp>
      <p:sp>
        <p:nvSpPr>
          <p:cNvPr id="12" name="Text 10"/>
          <p:cNvSpPr/>
          <p:nvPr/>
        </p:nvSpPr>
        <p:spPr>
          <a:xfrm>
            <a:off x="2606040" y="1143000"/>
            <a:ext cx="9189720" cy="365760"/>
          </a:xfrm>
          <a:prstGeom prst="rect">
            <a:avLst/>
          </a:prstGeom>
          <a:noFill/>
          <a:ln/>
        </p:spPr>
        <p:txBody>
          <a:bodyPr wrap="square" lIns="0" tIns="0" rIns="0" bIns="0" rtlCol="0" anchor="ctr"/>
          <a:lstStyle/>
          <a:p>
            <a:pPr marL="0" indent="0">
              <a:buNone/>
            </a:pPr>
            <a:r>
              <a:rPr lang="en-US" sz="1200" dirty="0">
                <a:solidFill>
                  <a:srgbClr val="1A1A1A"/>
                </a:solidFill>
              </a:rPr>
              <a:t>log(μ) = α + β₄×news_lag + β₃×cong_lag     →     μ = exp(α + β₄×news_lag + β₃×cong_lag)</a:t>
            </a:r>
            <a:endParaRPr lang="en-US" sz="1200" dirty="0"/>
          </a:p>
        </p:txBody>
      </p:sp>
      <p:sp>
        <p:nvSpPr>
          <p:cNvPr id="13" name="Shape 11"/>
          <p:cNvSpPr/>
          <p:nvPr/>
        </p:nvSpPr>
        <p:spPr>
          <a:xfrm>
            <a:off x="2468880" y="1508760"/>
            <a:ext cx="9464040" cy="1115568"/>
          </a:xfrm>
          <a:prstGeom prst="rect">
            <a:avLst/>
          </a:prstGeom>
          <a:solidFill>
            <a:schemeClr val="accent3">
              <a:lumMod val="20000"/>
              <a:lumOff val="80000"/>
            </a:schemeClr>
          </a:solidFill>
          <a:ln w="12700">
            <a:solidFill>
              <a:srgbClr val="CCCCCC"/>
            </a:solidFill>
            <a:prstDash val="solid"/>
          </a:ln>
        </p:spPr>
      </p:sp>
      <p:sp>
        <p:nvSpPr>
          <p:cNvPr id="14" name="Text 12"/>
          <p:cNvSpPr/>
          <p:nvPr/>
        </p:nvSpPr>
        <p:spPr>
          <a:xfrm>
            <a:off x="2468880" y="1508760"/>
            <a:ext cx="9326880" cy="1143000"/>
          </a:xfrm>
          <a:prstGeom prst="rect">
            <a:avLst/>
          </a:prstGeom>
          <a:noFill/>
          <a:ln/>
        </p:spPr>
        <p:txBody>
          <a:bodyPr wrap="square" lIns="0" tIns="0" rIns="0" bIns="0" rtlCol="0" anchor="ctr"/>
          <a:lstStyle/>
          <a:p>
            <a:pPr marL="0" indent="0">
              <a:buNone/>
            </a:pPr>
            <a:endParaRPr lang="en-US" sz="1200" b="1" dirty="0">
              <a:solidFill>
                <a:srgbClr val="1A1A1A"/>
              </a:solidFill>
            </a:endParaRPr>
          </a:p>
          <a:p>
            <a:pPr marL="0" indent="0">
              <a:buNone/>
            </a:pPr>
            <a:endParaRPr lang="en-US" sz="1200" b="1" dirty="0">
              <a:solidFill>
                <a:srgbClr val="1A1A1A"/>
              </a:solidFill>
            </a:endParaRPr>
          </a:p>
          <a:p>
            <a:pPr marL="0" indent="0">
              <a:buNone/>
            </a:pPr>
            <a:r>
              <a:rPr lang="en-US" sz="1200" b="1" dirty="0">
                <a:solidFill>
                  <a:srgbClr val="1A1A1A"/>
                </a:solidFill>
              </a:rPr>
              <a:t>   Variance = μ + μ²/θ</a:t>
            </a:r>
            <a:r>
              <a:rPr lang="en-US" sz="1200" dirty="0">
                <a:solidFill>
                  <a:srgbClr val="1A1A1A"/>
                </a:solidFill>
              </a:rPr>
              <a:t>          (θ = dispersion parameter, estimated by maximum likelihood)</a:t>
            </a:r>
          </a:p>
          <a:p>
            <a:pPr marL="0" indent="0">
              <a:buNone/>
            </a:pPr>
            <a:r>
              <a:rPr lang="en-US" sz="1200" dirty="0">
                <a:solidFill>
                  <a:srgbClr val="1A1A1A"/>
                </a:solidFill>
              </a:rPr>
              <a:t> </a:t>
            </a:r>
          </a:p>
          <a:p>
            <a:pPr marL="0" indent="0">
              <a:buNone/>
            </a:pPr>
            <a:r>
              <a:rPr lang="en-US" sz="1200" dirty="0">
                <a:solidFill>
                  <a:srgbClr val="1A1A1A"/>
                </a:solidFill>
              </a:rPr>
              <a:t>   Where;</a:t>
            </a:r>
          </a:p>
          <a:p>
            <a:r>
              <a:rPr lang="en-US" sz="1200" b="1" dirty="0"/>
              <a:t>   </a:t>
            </a:r>
            <a:r>
              <a:rPr lang="en-US" sz="1200" b="1" dirty="0" err="1"/>
              <a:t>μ</a:t>
            </a:r>
            <a:r>
              <a:rPr lang="en-US" sz="1200" dirty="0"/>
              <a:t> = expected count (same as </a:t>
            </a:r>
            <a:r>
              <a:rPr lang="en-US" sz="1200" dirty="0" err="1"/>
              <a:t>λ</a:t>
            </a:r>
            <a:r>
              <a:rPr lang="en-US" sz="1200" dirty="0"/>
              <a:t> in Poisson) — fitted from the model</a:t>
            </a:r>
          </a:p>
          <a:p>
            <a:r>
              <a:rPr lang="en-US" sz="1200" b="1" dirty="0"/>
              <a:t>   μ²/</a:t>
            </a:r>
            <a:r>
              <a:rPr lang="en-US" sz="1200" b="1" dirty="0" err="1"/>
              <a:t>θ</a:t>
            </a:r>
            <a:r>
              <a:rPr lang="en-US" sz="1200" dirty="0"/>
              <a:t> </a:t>
            </a:r>
            <a:r>
              <a:rPr lang="en-US" sz="1200" dirty="0">
                <a:solidFill>
                  <a:srgbClr val="1A1A1A"/>
                </a:solidFill>
              </a:rPr>
              <a:t>= extra variance beyond Poisson — grows quadratically with </a:t>
            </a:r>
            <a:r>
              <a:rPr lang="en-US" sz="1200" dirty="0" err="1">
                <a:solidFill>
                  <a:srgbClr val="1A1A1A"/>
                </a:solidFill>
              </a:rPr>
              <a:t>μ</a:t>
            </a:r>
            <a:endParaRPr lang="en-US" sz="1200" dirty="0"/>
          </a:p>
          <a:p>
            <a:endParaRPr lang="en-US" sz="1200" dirty="0"/>
          </a:p>
          <a:p>
            <a:pPr marL="0" indent="0">
              <a:buNone/>
            </a:pPr>
            <a:endParaRPr lang="en-US" sz="1200" dirty="0"/>
          </a:p>
        </p:txBody>
      </p:sp>
      <p:sp>
        <p:nvSpPr>
          <p:cNvPr id="23" name="Shape 21"/>
          <p:cNvSpPr/>
          <p:nvPr/>
        </p:nvSpPr>
        <p:spPr>
          <a:xfrm>
            <a:off x="2468880" y="2651760"/>
            <a:ext cx="9464040" cy="457200"/>
          </a:xfrm>
          <a:prstGeom prst="rect">
            <a:avLst/>
          </a:prstGeom>
          <a:solidFill>
            <a:srgbClr val="E0E0E0"/>
          </a:solidFill>
          <a:ln w="12700">
            <a:solidFill>
              <a:srgbClr val="CCCCCC"/>
            </a:solidFill>
            <a:prstDash val="solid"/>
          </a:ln>
        </p:spPr>
      </p:sp>
      <p:sp>
        <p:nvSpPr>
          <p:cNvPr id="24" name="Text 22"/>
          <p:cNvSpPr/>
          <p:nvPr/>
        </p:nvSpPr>
        <p:spPr>
          <a:xfrm>
            <a:off x="2468880" y="2651760"/>
            <a:ext cx="9464040" cy="457200"/>
          </a:xfrm>
          <a:prstGeom prst="rect">
            <a:avLst/>
          </a:prstGeom>
          <a:noFill/>
          <a:ln/>
        </p:spPr>
        <p:txBody>
          <a:bodyPr wrap="square" lIns="0" tIns="0" rIns="0" bIns="0" rtlCol="0" anchor="ctr"/>
          <a:lstStyle/>
          <a:p>
            <a:pPr marL="0" indent="0">
              <a:buNone/>
            </a:pPr>
            <a:r>
              <a:rPr lang="en-US" sz="1100" b="1" dirty="0">
                <a:solidFill>
                  <a:srgbClr val="1A1A1A"/>
                </a:solidFill>
              </a:rPr>
              <a:t>  When </a:t>
            </a:r>
            <a:r>
              <a:rPr lang="en-US" sz="1100" b="1" dirty="0" err="1">
                <a:solidFill>
                  <a:srgbClr val="1A1A1A"/>
                </a:solidFill>
              </a:rPr>
              <a:t>θ</a:t>
            </a:r>
            <a:r>
              <a:rPr lang="en-US" sz="1100" b="1" dirty="0">
                <a:solidFill>
                  <a:srgbClr val="1A1A1A"/>
                </a:solidFill>
              </a:rPr>
              <a:t> → ∞ :</a:t>
            </a:r>
            <a:r>
              <a:rPr lang="en-US" sz="1100" dirty="0">
                <a:solidFill>
                  <a:srgbClr val="1A1A1A"/>
                </a:solidFill>
              </a:rPr>
              <a:t>  Variance → μ  (collapses to Poisson)     </a:t>
            </a:r>
            <a:r>
              <a:rPr lang="en-US" sz="1100" b="1" dirty="0">
                <a:solidFill>
                  <a:srgbClr val="1A1A1A"/>
                </a:solidFill>
              </a:rPr>
              <a:t>θ → 0 :</a:t>
            </a:r>
            <a:r>
              <a:rPr lang="en-US" sz="1100" dirty="0">
                <a:solidFill>
                  <a:srgbClr val="1A1A1A"/>
                </a:solidFill>
              </a:rPr>
              <a:t>  Variance &gt;&gt; μ  (fat tails, extreme counts more likely)    </a:t>
            </a:r>
            <a:endParaRPr lang="en-US" sz="1100" dirty="0"/>
          </a:p>
        </p:txBody>
      </p:sp>
      <p:grpSp>
        <p:nvGrpSpPr>
          <p:cNvPr id="45" name="Group 44">
            <a:extLst>
              <a:ext uri="{FF2B5EF4-FFF2-40B4-BE49-F238E27FC236}">
                <a16:creationId xmlns:a16="http://schemas.microsoft.com/office/drawing/2014/main" id="{1BEDEF27-9B3A-B063-134F-1049CEE4B40F}"/>
              </a:ext>
            </a:extLst>
          </p:cNvPr>
          <p:cNvGrpSpPr/>
          <p:nvPr/>
        </p:nvGrpSpPr>
        <p:grpSpPr>
          <a:xfrm>
            <a:off x="2606039" y="3549860"/>
            <a:ext cx="9555481" cy="1292484"/>
            <a:chOff x="2606040" y="3154680"/>
            <a:chExt cx="9464040" cy="891540"/>
          </a:xfrm>
        </p:grpSpPr>
        <p:sp>
          <p:nvSpPr>
            <p:cNvPr id="26" name="Text 24"/>
            <p:cNvSpPr/>
            <p:nvPr/>
          </p:nvSpPr>
          <p:spPr>
            <a:xfrm>
              <a:off x="2606040" y="3154680"/>
              <a:ext cx="9189720" cy="201168"/>
            </a:xfrm>
            <a:prstGeom prst="rect">
              <a:avLst/>
            </a:prstGeom>
            <a:noFill/>
            <a:ln/>
          </p:spPr>
          <p:txBody>
            <a:bodyPr wrap="square" lIns="0" tIns="0" rIns="0" bIns="0" rtlCol="0" anchor="t"/>
            <a:lstStyle/>
            <a:p>
              <a:pPr marL="0" indent="0">
                <a:buNone/>
              </a:pPr>
              <a:r>
                <a:rPr lang="en-US" sz="1000" b="1" dirty="0"/>
                <a:t>Variance comparison at overall mean (μ = 0.046):</a:t>
              </a:r>
              <a:endParaRPr lang="en-US" sz="1000" dirty="0"/>
            </a:p>
          </p:txBody>
        </p:sp>
        <p:sp>
          <p:nvSpPr>
            <p:cNvPr id="27" name="Text 25"/>
            <p:cNvSpPr/>
            <p:nvPr/>
          </p:nvSpPr>
          <p:spPr>
            <a:xfrm>
              <a:off x="2606040" y="3355848"/>
              <a:ext cx="1828800" cy="182880"/>
            </a:xfrm>
            <a:prstGeom prst="rect">
              <a:avLst/>
            </a:prstGeom>
            <a:noFill/>
            <a:ln/>
          </p:spPr>
          <p:txBody>
            <a:bodyPr wrap="square" lIns="0" tIns="0" rIns="0" bIns="0" rtlCol="0" anchor="t"/>
            <a:lstStyle/>
            <a:p>
              <a:pPr marL="0" indent="0">
                <a:buNone/>
              </a:pPr>
              <a:r>
                <a:rPr lang="en-US" sz="900" b="1" dirty="0"/>
                <a:t>Model</a:t>
              </a:r>
              <a:endParaRPr lang="en-US" sz="900" dirty="0"/>
            </a:p>
          </p:txBody>
        </p:sp>
        <p:sp>
          <p:nvSpPr>
            <p:cNvPr id="28" name="Text 26"/>
            <p:cNvSpPr/>
            <p:nvPr/>
          </p:nvSpPr>
          <p:spPr>
            <a:xfrm>
              <a:off x="4434840" y="3355848"/>
              <a:ext cx="3200400" cy="182880"/>
            </a:xfrm>
            <a:prstGeom prst="rect">
              <a:avLst/>
            </a:prstGeom>
            <a:noFill/>
            <a:ln/>
          </p:spPr>
          <p:txBody>
            <a:bodyPr wrap="square" lIns="0" tIns="0" rIns="0" bIns="0" rtlCol="0" anchor="t"/>
            <a:lstStyle/>
            <a:p>
              <a:pPr marL="0" indent="0">
                <a:buNone/>
              </a:pPr>
              <a:r>
                <a:rPr lang="en-US" sz="900" b="1" dirty="0"/>
                <a:t>Formula</a:t>
              </a:r>
              <a:endParaRPr lang="en-US" sz="900" dirty="0"/>
            </a:p>
          </p:txBody>
        </p:sp>
        <p:sp>
          <p:nvSpPr>
            <p:cNvPr id="29" name="Text 27"/>
            <p:cNvSpPr/>
            <p:nvPr/>
          </p:nvSpPr>
          <p:spPr>
            <a:xfrm>
              <a:off x="7635240" y="3355848"/>
              <a:ext cx="2103120" cy="182880"/>
            </a:xfrm>
            <a:prstGeom prst="rect">
              <a:avLst/>
            </a:prstGeom>
            <a:noFill/>
            <a:ln/>
          </p:spPr>
          <p:txBody>
            <a:bodyPr wrap="square" lIns="0" tIns="0" rIns="0" bIns="0" rtlCol="0" anchor="t"/>
            <a:lstStyle/>
            <a:p>
              <a:pPr marL="0" indent="0">
                <a:buNone/>
              </a:pPr>
              <a:r>
                <a:rPr lang="en-US" sz="900" b="1" dirty="0"/>
                <a:t>Predicted Variance</a:t>
              </a:r>
              <a:endParaRPr lang="en-US" sz="900" dirty="0"/>
            </a:p>
          </p:txBody>
        </p:sp>
        <p:sp>
          <p:nvSpPr>
            <p:cNvPr id="30" name="Text 28"/>
            <p:cNvSpPr/>
            <p:nvPr/>
          </p:nvSpPr>
          <p:spPr>
            <a:xfrm>
              <a:off x="9738360" y="3355848"/>
              <a:ext cx="2331720" cy="182880"/>
            </a:xfrm>
            <a:prstGeom prst="rect">
              <a:avLst/>
            </a:prstGeom>
            <a:noFill/>
            <a:ln/>
          </p:spPr>
          <p:txBody>
            <a:bodyPr wrap="square" lIns="0" tIns="0" rIns="0" bIns="0" rtlCol="0" anchor="t"/>
            <a:lstStyle/>
            <a:p>
              <a:pPr marL="0" indent="0">
                <a:buNone/>
              </a:pPr>
              <a:r>
                <a:rPr lang="en-US" sz="900" b="1" dirty="0"/>
                <a:t>vs Actual (0.103)</a:t>
              </a:r>
              <a:endParaRPr lang="en-US" sz="900" dirty="0"/>
            </a:p>
          </p:txBody>
        </p:sp>
        <p:sp>
          <p:nvSpPr>
            <p:cNvPr id="31" name="Text 29"/>
            <p:cNvSpPr/>
            <p:nvPr/>
          </p:nvSpPr>
          <p:spPr>
            <a:xfrm>
              <a:off x="2606040" y="3538728"/>
              <a:ext cx="1828800" cy="169164"/>
            </a:xfrm>
            <a:prstGeom prst="rect">
              <a:avLst/>
            </a:prstGeom>
            <a:noFill/>
            <a:ln/>
          </p:spPr>
          <p:txBody>
            <a:bodyPr wrap="square" lIns="0" tIns="0" rIns="0" bIns="0" rtlCol="0" anchor="t"/>
            <a:lstStyle/>
            <a:p>
              <a:pPr marL="0" indent="0">
                <a:buNone/>
              </a:pPr>
              <a:r>
                <a:rPr lang="en-US" sz="900" dirty="0">
                  <a:solidFill>
                    <a:srgbClr val="1A1A1A"/>
                  </a:solidFill>
                </a:rPr>
                <a:t>Poisson</a:t>
              </a:r>
              <a:endParaRPr lang="en-US" sz="900" dirty="0"/>
            </a:p>
          </p:txBody>
        </p:sp>
        <p:sp>
          <p:nvSpPr>
            <p:cNvPr id="32" name="Text 30"/>
            <p:cNvSpPr/>
            <p:nvPr/>
          </p:nvSpPr>
          <p:spPr>
            <a:xfrm>
              <a:off x="4434840" y="3538728"/>
              <a:ext cx="3200400" cy="169164"/>
            </a:xfrm>
            <a:prstGeom prst="rect">
              <a:avLst/>
            </a:prstGeom>
            <a:noFill/>
            <a:ln/>
          </p:spPr>
          <p:txBody>
            <a:bodyPr wrap="square" lIns="0" tIns="0" rIns="0" bIns="0" rtlCol="0" anchor="t"/>
            <a:lstStyle/>
            <a:p>
              <a:pPr marL="0" indent="0">
                <a:buNone/>
              </a:pPr>
              <a:r>
                <a:rPr lang="en-US" sz="900" dirty="0">
                  <a:solidFill>
                    <a:srgbClr val="1A1A1A"/>
                  </a:solidFill>
                </a:rPr>
                <a:t>Var = μ</a:t>
              </a:r>
              <a:endParaRPr lang="en-US" sz="900" dirty="0"/>
            </a:p>
          </p:txBody>
        </p:sp>
        <p:sp>
          <p:nvSpPr>
            <p:cNvPr id="33" name="Text 31"/>
            <p:cNvSpPr/>
            <p:nvPr/>
          </p:nvSpPr>
          <p:spPr>
            <a:xfrm>
              <a:off x="7635240" y="3538728"/>
              <a:ext cx="2103120" cy="169164"/>
            </a:xfrm>
            <a:prstGeom prst="rect">
              <a:avLst/>
            </a:prstGeom>
            <a:noFill/>
            <a:ln/>
          </p:spPr>
          <p:txBody>
            <a:bodyPr wrap="square" lIns="0" tIns="0" rIns="0" bIns="0" rtlCol="0" anchor="t"/>
            <a:lstStyle/>
            <a:p>
              <a:pPr marL="0" indent="0">
                <a:buNone/>
              </a:pPr>
              <a:r>
                <a:rPr lang="en-US" sz="900" dirty="0">
                  <a:solidFill>
                    <a:srgbClr val="1A1A1A"/>
                  </a:solidFill>
                </a:rPr>
                <a:t>0.046</a:t>
              </a:r>
              <a:endParaRPr lang="en-US" sz="900" dirty="0"/>
            </a:p>
          </p:txBody>
        </p:sp>
        <p:sp>
          <p:nvSpPr>
            <p:cNvPr id="34" name="Text 32"/>
            <p:cNvSpPr/>
            <p:nvPr/>
          </p:nvSpPr>
          <p:spPr>
            <a:xfrm>
              <a:off x="9738360" y="3538728"/>
              <a:ext cx="2331720" cy="169164"/>
            </a:xfrm>
            <a:prstGeom prst="rect">
              <a:avLst/>
            </a:prstGeom>
            <a:noFill/>
            <a:ln/>
          </p:spPr>
          <p:txBody>
            <a:bodyPr wrap="square" lIns="0" tIns="0" rIns="0" bIns="0" rtlCol="0" anchor="t"/>
            <a:lstStyle/>
            <a:p>
              <a:pPr marL="0" indent="0">
                <a:buNone/>
              </a:pPr>
              <a:r>
                <a:rPr lang="en-US" sz="900" dirty="0">
                  <a:solidFill>
                    <a:srgbClr val="1A1A1A"/>
                  </a:solidFill>
                </a:rPr>
                <a:t>Underestimates</a:t>
              </a:r>
              <a:endParaRPr lang="en-US" sz="900" dirty="0"/>
            </a:p>
          </p:txBody>
        </p:sp>
        <p:sp>
          <p:nvSpPr>
            <p:cNvPr id="35" name="Text 33"/>
            <p:cNvSpPr/>
            <p:nvPr/>
          </p:nvSpPr>
          <p:spPr>
            <a:xfrm>
              <a:off x="2606040" y="3707892"/>
              <a:ext cx="1828800" cy="169164"/>
            </a:xfrm>
            <a:prstGeom prst="rect">
              <a:avLst/>
            </a:prstGeom>
            <a:noFill/>
            <a:ln/>
          </p:spPr>
          <p:txBody>
            <a:bodyPr wrap="square" lIns="0" tIns="0" rIns="0" bIns="0" rtlCol="0" anchor="t"/>
            <a:lstStyle/>
            <a:p>
              <a:pPr marL="0" indent="0">
                <a:buNone/>
              </a:pPr>
              <a:r>
                <a:rPr lang="en-US" sz="900" dirty="0">
                  <a:solidFill>
                    <a:srgbClr val="1A1A1A"/>
                  </a:solidFill>
                </a:rPr>
                <a:t>Quasi-Poisson</a:t>
              </a:r>
              <a:endParaRPr lang="en-US" sz="900" dirty="0"/>
            </a:p>
          </p:txBody>
        </p:sp>
        <p:sp>
          <p:nvSpPr>
            <p:cNvPr id="36" name="Text 34"/>
            <p:cNvSpPr/>
            <p:nvPr/>
          </p:nvSpPr>
          <p:spPr>
            <a:xfrm>
              <a:off x="4434840" y="3707892"/>
              <a:ext cx="3200400" cy="169164"/>
            </a:xfrm>
            <a:prstGeom prst="rect">
              <a:avLst/>
            </a:prstGeom>
            <a:noFill/>
            <a:ln/>
          </p:spPr>
          <p:txBody>
            <a:bodyPr wrap="square" lIns="0" tIns="0" rIns="0" bIns="0" rtlCol="0" anchor="t"/>
            <a:lstStyle/>
            <a:p>
              <a:pPr marL="0" indent="0">
                <a:buNone/>
              </a:pPr>
              <a:r>
                <a:rPr lang="en-US" sz="900" dirty="0">
                  <a:solidFill>
                    <a:srgbClr val="1A1A1A"/>
                  </a:solidFill>
                </a:rPr>
                <a:t>Var = 2.50 × μ</a:t>
              </a:r>
              <a:endParaRPr lang="en-US" sz="900" dirty="0"/>
            </a:p>
          </p:txBody>
        </p:sp>
        <p:sp>
          <p:nvSpPr>
            <p:cNvPr id="37" name="Text 35"/>
            <p:cNvSpPr/>
            <p:nvPr/>
          </p:nvSpPr>
          <p:spPr>
            <a:xfrm>
              <a:off x="7635240" y="3707892"/>
              <a:ext cx="2103120" cy="169164"/>
            </a:xfrm>
            <a:prstGeom prst="rect">
              <a:avLst/>
            </a:prstGeom>
            <a:noFill/>
            <a:ln/>
          </p:spPr>
          <p:txBody>
            <a:bodyPr wrap="square" lIns="0" tIns="0" rIns="0" bIns="0" rtlCol="0" anchor="t"/>
            <a:lstStyle/>
            <a:p>
              <a:pPr marL="0" indent="0">
                <a:buNone/>
              </a:pPr>
              <a:r>
                <a:rPr lang="en-US" sz="900" dirty="0">
                  <a:solidFill>
                    <a:srgbClr val="1A1A1A"/>
                  </a:solidFill>
                </a:rPr>
                <a:t>0.115</a:t>
              </a:r>
              <a:endParaRPr lang="en-US" sz="900" dirty="0"/>
            </a:p>
          </p:txBody>
        </p:sp>
        <p:sp>
          <p:nvSpPr>
            <p:cNvPr id="38" name="Text 36"/>
            <p:cNvSpPr/>
            <p:nvPr/>
          </p:nvSpPr>
          <p:spPr>
            <a:xfrm>
              <a:off x="9738360" y="3707892"/>
              <a:ext cx="2331720" cy="169164"/>
            </a:xfrm>
            <a:prstGeom prst="rect">
              <a:avLst/>
            </a:prstGeom>
            <a:noFill/>
            <a:ln/>
          </p:spPr>
          <p:txBody>
            <a:bodyPr wrap="square" lIns="0" tIns="0" rIns="0" bIns="0" rtlCol="0" anchor="t"/>
            <a:lstStyle/>
            <a:p>
              <a:pPr marL="0" indent="0">
                <a:buNone/>
              </a:pPr>
              <a:r>
                <a:rPr lang="en-US" sz="900" dirty="0">
                  <a:solidFill>
                    <a:srgbClr val="1A1A1A"/>
                  </a:solidFill>
                </a:rPr>
                <a:t>Slightly overshoots</a:t>
              </a:r>
              <a:endParaRPr lang="en-US" sz="900" dirty="0"/>
            </a:p>
          </p:txBody>
        </p:sp>
        <p:sp>
          <p:nvSpPr>
            <p:cNvPr id="39" name="Text 37"/>
            <p:cNvSpPr/>
            <p:nvPr/>
          </p:nvSpPr>
          <p:spPr>
            <a:xfrm>
              <a:off x="2606040" y="3877056"/>
              <a:ext cx="1828800" cy="169164"/>
            </a:xfrm>
            <a:prstGeom prst="rect">
              <a:avLst/>
            </a:prstGeom>
            <a:noFill/>
            <a:ln/>
          </p:spPr>
          <p:txBody>
            <a:bodyPr wrap="square" lIns="0" tIns="0" rIns="0" bIns="0" rtlCol="0" anchor="t"/>
            <a:lstStyle/>
            <a:p>
              <a:pPr marL="0" indent="0">
                <a:buNone/>
              </a:pPr>
              <a:r>
                <a:rPr lang="en-US" sz="900" b="1" dirty="0"/>
                <a:t>Negative Binomial</a:t>
              </a:r>
              <a:endParaRPr lang="en-US" sz="900" dirty="0"/>
            </a:p>
          </p:txBody>
        </p:sp>
        <p:sp>
          <p:nvSpPr>
            <p:cNvPr id="40" name="Text 38"/>
            <p:cNvSpPr/>
            <p:nvPr/>
          </p:nvSpPr>
          <p:spPr>
            <a:xfrm>
              <a:off x="4434840" y="3877056"/>
              <a:ext cx="3200400" cy="169164"/>
            </a:xfrm>
            <a:prstGeom prst="rect">
              <a:avLst/>
            </a:prstGeom>
            <a:noFill/>
            <a:ln/>
          </p:spPr>
          <p:txBody>
            <a:bodyPr wrap="square" lIns="0" tIns="0" rIns="0" bIns="0" rtlCol="0" anchor="t"/>
            <a:lstStyle/>
            <a:p>
              <a:pPr marL="0" indent="0">
                <a:buNone/>
              </a:pPr>
              <a:r>
                <a:rPr lang="en-US" sz="900" dirty="0"/>
                <a:t>Var = μ + μ²/0.058</a:t>
              </a:r>
            </a:p>
          </p:txBody>
        </p:sp>
        <p:sp>
          <p:nvSpPr>
            <p:cNvPr id="41" name="Text 39"/>
            <p:cNvSpPr/>
            <p:nvPr/>
          </p:nvSpPr>
          <p:spPr>
            <a:xfrm>
              <a:off x="7635240" y="3877056"/>
              <a:ext cx="2103120" cy="169164"/>
            </a:xfrm>
            <a:prstGeom prst="rect">
              <a:avLst/>
            </a:prstGeom>
            <a:noFill/>
            <a:ln/>
          </p:spPr>
          <p:txBody>
            <a:bodyPr wrap="square" lIns="0" tIns="0" rIns="0" bIns="0" rtlCol="0" anchor="t"/>
            <a:lstStyle/>
            <a:p>
              <a:pPr marL="0" indent="0">
                <a:buNone/>
              </a:pPr>
              <a:r>
                <a:rPr lang="en-US" sz="900" dirty="0"/>
                <a:t>0.082</a:t>
              </a:r>
            </a:p>
          </p:txBody>
        </p:sp>
        <p:sp>
          <p:nvSpPr>
            <p:cNvPr id="42" name="Text 40"/>
            <p:cNvSpPr/>
            <p:nvPr/>
          </p:nvSpPr>
          <p:spPr>
            <a:xfrm>
              <a:off x="9738360" y="3877056"/>
              <a:ext cx="2331720" cy="169164"/>
            </a:xfrm>
            <a:prstGeom prst="rect">
              <a:avLst/>
            </a:prstGeom>
            <a:noFill/>
            <a:ln/>
          </p:spPr>
          <p:txBody>
            <a:bodyPr wrap="square" lIns="0" tIns="0" rIns="0" bIns="0" rtlCol="0" anchor="t"/>
            <a:lstStyle/>
            <a:p>
              <a:pPr marL="0" indent="0">
                <a:buNone/>
              </a:pPr>
              <a:r>
                <a:rPr lang="en-US" sz="900" dirty="0"/>
                <a:t>Closest to actual</a:t>
              </a:r>
            </a:p>
          </p:txBody>
        </p:sp>
      </p:grpSp>
      <p:sp>
        <p:nvSpPr>
          <p:cNvPr id="48" name="Shape 7">
            <a:extLst>
              <a:ext uri="{FF2B5EF4-FFF2-40B4-BE49-F238E27FC236}">
                <a16:creationId xmlns:a16="http://schemas.microsoft.com/office/drawing/2014/main" id="{FF0D488E-C272-D790-5C0B-EC4074174B19}"/>
              </a:ext>
            </a:extLst>
          </p:cNvPr>
          <p:cNvSpPr/>
          <p:nvPr/>
        </p:nvSpPr>
        <p:spPr>
          <a:xfrm>
            <a:off x="2468879" y="5075938"/>
            <a:ext cx="9521688" cy="1096262"/>
          </a:xfrm>
          <a:prstGeom prst="rect">
            <a:avLst/>
          </a:prstGeom>
          <a:solidFill>
            <a:schemeClr val="accent3">
              <a:lumMod val="20000"/>
              <a:lumOff val="80000"/>
            </a:schemeClr>
          </a:solidFill>
          <a:ln w="12700">
            <a:solidFill>
              <a:srgbClr val="CCCCCC"/>
            </a:solidFill>
            <a:prstDash val="solid"/>
          </a:ln>
        </p:spPr>
      </p:sp>
      <p:sp>
        <p:nvSpPr>
          <p:cNvPr id="49" name="Text 22">
            <a:extLst>
              <a:ext uri="{FF2B5EF4-FFF2-40B4-BE49-F238E27FC236}">
                <a16:creationId xmlns:a16="http://schemas.microsoft.com/office/drawing/2014/main" id="{51C81542-1ECF-00D9-5EB5-FDC7E92C5319}"/>
              </a:ext>
            </a:extLst>
          </p:cNvPr>
          <p:cNvSpPr/>
          <p:nvPr/>
        </p:nvSpPr>
        <p:spPr>
          <a:xfrm>
            <a:off x="2517249" y="5321178"/>
            <a:ext cx="9473318" cy="457200"/>
          </a:xfrm>
          <a:prstGeom prst="rect">
            <a:avLst/>
          </a:prstGeom>
          <a:noFill/>
          <a:ln/>
        </p:spPr>
        <p:txBody>
          <a:bodyPr wrap="square" lIns="0" tIns="0" rIns="0" bIns="0" rtlCol="0" anchor="ctr"/>
          <a:lstStyle/>
          <a:p>
            <a:r>
              <a:rPr lang="en-UG" sz="1200" b="1" dirty="0"/>
              <a:t>Limitation: </a:t>
            </a:r>
            <a:r>
              <a:rPr lang="en-UG" sz="1200" dirty="0"/>
              <a:t>Negative Binomial still cannot separate structural zeros (Congress never crosses the threshold)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chemeClr val="accent1">
              <a:lumMod val="50000"/>
            </a:schemeClr>
          </a:solidFill>
          <a:ln w="12700">
            <a:solidFill>
              <a:srgbClr val="283593"/>
            </a:solidFill>
            <a:prstDash val="solid"/>
          </a:ln>
        </p:spPr>
      </p:sp>
      <p:sp>
        <p:nvSpPr>
          <p:cNvPr id="3" name="Text 1"/>
          <p:cNvSpPr/>
          <p:nvPr/>
        </p:nvSpPr>
        <p:spPr>
          <a:xfrm>
            <a:off x="228600" y="0"/>
            <a:ext cx="11887200" cy="384048"/>
          </a:xfrm>
          <a:prstGeom prst="rect">
            <a:avLst/>
          </a:prstGeom>
          <a:noFill/>
          <a:ln/>
        </p:spPr>
        <p:txBody>
          <a:bodyPr wrap="square" lIns="0" tIns="0" rIns="0" bIns="0" rtlCol="0" anchor="ctr"/>
          <a:lstStyle/>
          <a:p>
            <a:pPr marL="0" indent="0">
              <a:buNone/>
            </a:pPr>
            <a:r>
              <a:rPr lang="en-US" sz="2000" b="1" dirty="0">
                <a:solidFill>
                  <a:srgbClr val="FFFFFF"/>
                </a:solidFill>
              </a:rPr>
              <a:t>Use of Generalized Linear Models (GLM)</a:t>
            </a:r>
            <a:endParaRPr lang="en-US" sz="2000" dirty="0"/>
          </a:p>
        </p:txBody>
      </p:sp>
      <p:sp>
        <p:nvSpPr>
          <p:cNvPr id="4" name="Text 2"/>
          <p:cNvSpPr/>
          <p:nvPr/>
        </p:nvSpPr>
        <p:spPr>
          <a:xfrm>
            <a:off x="228600" y="384048"/>
            <a:ext cx="11887200" cy="301752"/>
          </a:xfrm>
          <a:prstGeom prst="rect">
            <a:avLst/>
          </a:prstGeom>
          <a:noFill/>
          <a:ln/>
        </p:spPr>
        <p:txBody>
          <a:bodyPr wrap="square" lIns="0" tIns="0" rIns="0" bIns="0" rtlCol="0" anchor="ctr"/>
          <a:lstStyle/>
          <a:p>
            <a:pPr marL="0" indent="0">
              <a:buNone/>
            </a:pPr>
            <a:r>
              <a:rPr lang="en-US" sz="1200" dirty="0">
                <a:solidFill>
                  <a:srgbClr val="FFFFFF"/>
                </a:solidFill>
              </a:rPr>
              <a:t>Approaches that allow the dependent variable to follow a different distribution</a:t>
            </a:r>
            <a:endParaRPr lang="en-US" sz="1200" dirty="0"/>
          </a:p>
        </p:txBody>
      </p:sp>
      <p:sp>
        <p:nvSpPr>
          <p:cNvPr id="5" name="Shape 3"/>
          <p:cNvSpPr/>
          <p:nvPr/>
        </p:nvSpPr>
        <p:spPr>
          <a:xfrm>
            <a:off x="0" y="685800"/>
            <a:ext cx="502920" cy="5897880"/>
          </a:xfrm>
          <a:prstGeom prst="rect">
            <a:avLst/>
          </a:prstGeom>
          <a:solidFill>
            <a:schemeClr val="accent1">
              <a:lumMod val="50000"/>
            </a:schemeClr>
          </a:solidFill>
          <a:ln w="12700">
            <a:solidFill>
              <a:srgbClr val="1A237E"/>
            </a:solidFill>
            <a:prstDash val="solid"/>
          </a:ln>
        </p:spPr>
      </p:sp>
      <p:sp>
        <p:nvSpPr>
          <p:cNvPr id="6" name="Text 4"/>
          <p:cNvSpPr/>
          <p:nvPr/>
        </p:nvSpPr>
        <p:spPr>
          <a:xfrm>
            <a:off x="91440" y="777240"/>
            <a:ext cx="411480" cy="5806440"/>
          </a:xfrm>
          <a:prstGeom prst="rect">
            <a:avLst/>
          </a:prstGeom>
          <a:noFill/>
          <a:ln/>
        </p:spPr>
        <p:txBody>
          <a:bodyPr wrap="square" lIns="0" tIns="0" rIns="0" bIns="0" rtlCol="0" anchor="ctr"/>
          <a:lstStyle/>
          <a:p>
            <a:pPr marL="0" indent="0" algn="ctr">
              <a:buNone/>
            </a:pPr>
            <a:r>
              <a:rPr lang="en-US" sz="2600" b="1" dirty="0">
                <a:solidFill>
                  <a:srgbClr val="FFFFFF"/>
                </a:solidFill>
              </a:rPr>
              <a:t>4</a:t>
            </a:r>
            <a:endParaRPr lang="en-US" sz="2600" dirty="0"/>
          </a:p>
        </p:txBody>
      </p:sp>
      <p:sp>
        <p:nvSpPr>
          <p:cNvPr id="7" name="Shape 5"/>
          <p:cNvSpPr/>
          <p:nvPr/>
        </p:nvSpPr>
        <p:spPr>
          <a:xfrm>
            <a:off x="502920" y="777240"/>
            <a:ext cx="1965960" cy="5806440"/>
          </a:xfrm>
          <a:prstGeom prst="rect">
            <a:avLst/>
          </a:prstGeom>
          <a:solidFill>
            <a:srgbClr val="F0F0F0"/>
          </a:solidFill>
          <a:ln w="12700">
            <a:solidFill>
              <a:srgbClr val="CCCCCC"/>
            </a:solidFill>
            <a:prstDash val="solid"/>
          </a:ln>
        </p:spPr>
      </p:sp>
      <p:sp>
        <p:nvSpPr>
          <p:cNvPr id="8" name="Text 6"/>
          <p:cNvSpPr/>
          <p:nvPr/>
        </p:nvSpPr>
        <p:spPr>
          <a:xfrm>
            <a:off x="502920" y="777240"/>
            <a:ext cx="1965960" cy="5806440"/>
          </a:xfrm>
          <a:prstGeom prst="rect">
            <a:avLst/>
          </a:prstGeom>
          <a:noFill/>
          <a:ln/>
        </p:spPr>
        <p:txBody>
          <a:bodyPr wrap="square" lIns="50800" tIns="50800" rIns="50800" bIns="50800" rtlCol="0" anchor="ctr"/>
          <a:lstStyle/>
          <a:p>
            <a:pPr marL="0" indent="0" algn="ctr">
              <a:buNone/>
            </a:pPr>
            <a:r>
              <a:rPr lang="en-US" sz="1500" b="1" dirty="0"/>
              <a:t>Hurdle
Model</a:t>
            </a:r>
            <a:endParaRPr lang="en-US" sz="1500" dirty="0"/>
          </a:p>
        </p:txBody>
      </p:sp>
      <p:sp>
        <p:nvSpPr>
          <p:cNvPr id="9" name="Shape 7"/>
          <p:cNvSpPr/>
          <p:nvPr/>
        </p:nvSpPr>
        <p:spPr>
          <a:xfrm>
            <a:off x="2468880" y="777240"/>
            <a:ext cx="9464040" cy="402336"/>
          </a:xfrm>
          <a:prstGeom prst="rect">
            <a:avLst/>
          </a:prstGeom>
          <a:solidFill>
            <a:schemeClr val="accent3">
              <a:lumMod val="40000"/>
              <a:lumOff val="60000"/>
            </a:schemeClr>
          </a:solidFill>
          <a:ln w="12700">
            <a:solidFill>
              <a:srgbClr val="BBBBDD"/>
            </a:solidFill>
            <a:prstDash val="solid"/>
          </a:ln>
        </p:spPr>
      </p:sp>
      <p:sp>
        <p:nvSpPr>
          <p:cNvPr id="10" name="Text 8"/>
          <p:cNvSpPr/>
          <p:nvPr/>
        </p:nvSpPr>
        <p:spPr>
          <a:xfrm>
            <a:off x="2484882" y="777240"/>
            <a:ext cx="9448038" cy="402336"/>
          </a:xfrm>
          <a:prstGeom prst="rect">
            <a:avLst/>
          </a:prstGeom>
          <a:noFill/>
          <a:ln/>
        </p:spPr>
        <p:txBody>
          <a:bodyPr wrap="square" lIns="0" tIns="0" rIns="0" bIns="0" rtlCol="0" anchor="ctr"/>
          <a:lstStyle/>
          <a:p>
            <a:r>
              <a:rPr lang="en-US" sz="1100" b="1" dirty="0"/>
              <a:t>Why needed: </a:t>
            </a:r>
            <a:r>
              <a:rPr lang="en-US" sz="1100" dirty="0">
                <a:solidFill>
                  <a:srgbClr val="1A1A1A"/>
                </a:solidFill>
              </a:rPr>
              <a:t>97% of the months with zeros can be modeled with two separate processes.</a:t>
            </a:r>
            <a:endParaRPr lang="en-US" sz="1100" dirty="0"/>
          </a:p>
        </p:txBody>
      </p:sp>
      <p:sp>
        <p:nvSpPr>
          <p:cNvPr id="11" name="Shape 9"/>
          <p:cNvSpPr/>
          <p:nvPr/>
        </p:nvSpPr>
        <p:spPr>
          <a:xfrm>
            <a:off x="2468880" y="1179576"/>
            <a:ext cx="9464040" cy="475488"/>
          </a:xfrm>
          <a:prstGeom prst="rect">
            <a:avLst/>
          </a:prstGeom>
          <a:solidFill>
            <a:schemeClr val="accent3">
              <a:lumMod val="40000"/>
              <a:lumOff val="60000"/>
            </a:schemeClr>
          </a:solidFill>
          <a:ln w="12700">
            <a:solidFill>
              <a:srgbClr val="AACCEE"/>
            </a:solidFill>
            <a:prstDash val="solid"/>
          </a:ln>
        </p:spPr>
        <p:txBody>
          <a:bodyPr/>
          <a:lstStyle/>
          <a:p>
            <a:endParaRPr lang="en-UG" dirty="0"/>
          </a:p>
        </p:txBody>
      </p:sp>
      <p:sp>
        <p:nvSpPr>
          <p:cNvPr id="12" name="Text 10"/>
          <p:cNvSpPr/>
          <p:nvPr/>
        </p:nvSpPr>
        <p:spPr>
          <a:xfrm>
            <a:off x="2560320" y="1188720"/>
            <a:ext cx="9372600" cy="466344"/>
          </a:xfrm>
          <a:prstGeom prst="rect">
            <a:avLst/>
          </a:prstGeom>
          <a:noFill/>
          <a:ln/>
        </p:spPr>
        <p:txBody>
          <a:bodyPr wrap="square" lIns="0" tIns="0" rIns="0" bIns="0" rtlCol="0" anchor="ctr"/>
          <a:lstStyle/>
          <a:p>
            <a:pPr marL="0" indent="0">
              <a:buNone/>
            </a:pPr>
            <a:endParaRPr lang="en-US" sz="1000" b="1" dirty="0">
              <a:solidFill>
                <a:srgbClr val="006064"/>
              </a:solidFill>
            </a:endParaRPr>
          </a:p>
          <a:p>
            <a:r>
              <a:rPr lang="en-US" sz="1000" b="1" dirty="0"/>
              <a:t>Sampling zero: I</a:t>
            </a:r>
            <a:r>
              <a:rPr lang="en-US" sz="1000" dirty="0">
                <a:solidFill>
                  <a:srgbClr val="1A1A1A"/>
                </a:solidFill>
              </a:rPr>
              <a:t>n a month with low news coverage and no prior congressional activity, the expected count is near zero.</a:t>
            </a:r>
          </a:p>
          <a:p>
            <a:r>
              <a:rPr lang="en-US" sz="1000" b="1" dirty="0"/>
              <a:t>Structural zero: </a:t>
            </a:r>
            <a:r>
              <a:rPr lang="en-US" sz="1000" dirty="0">
                <a:solidFill>
                  <a:srgbClr val="1A1A1A"/>
                </a:solidFill>
              </a:rPr>
              <a:t>In this type of month, Congress would not produce an ESA listing document regardless of what the news coverage was.</a:t>
            </a:r>
            <a:endParaRPr lang="en-US" sz="1000" dirty="0"/>
          </a:p>
          <a:p>
            <a:pPr marL="0" indent="0">
              <a:buNone/>
            </a:pPr>
            <a:endParaRPr lang="en-US" sz="1000" dirty="0"/>
          </a:p>
        </p:txBody>
      </p:sp>
      <p:sp>
        <p:nvSpPr>
          <p:cNvPr id="17" name="Shape 15"/>
          <p:cNvSpPr/>
          <p:nvPr/>
        </p:nvSpPr>
        <p:spPr>
          <a:xfrm>
            <a:off x="2468880" y="1900362"/>
            <a:ext cx="9464040" cy="1327470"/>
          </a:xfrm>
          <a:prstGeom prst="rect">
            <a:avLst/>
          </a:prstGeom>
          <a:solidFill>
            <a:schemeClr val="accent3">
              <a:lumMod val="40000"/>
              <a:lumOff val="60000"/>
            </a:schemeClr>
          </a:solidFill>
          <a:ln w="12700">
            <a:solidFill>
              <a:srgbClr val="AACCEE"/>
            </a:solidFill>
            <a:prstDash val="solid"/>
          </a:ln>
        </p:spPr>
      </p:sp>
      <p:sp>
        <p:nvSpPr>
          <p:cNvPr id="18" name="Text 16"/>
          <p:cNvSpPr/>
          <p:nvPr/>
        </p:nvSpPr>
        <p:spPr>
          <a:xfrm>
            <a:off x="2468880" y="1846045"/>
            <a:ext cx="9464040" cy="842689"/>
          </a:xfrm>
          <a:prstGeom prst="rect">
            <a:avLst/>
          </a:prstGeom>
          <a:noFill/>
          <a:ln/>
        </p:spPr>
        <p:txBody>
          <a:bodyPr wrap="square" lIns="0" tIns="0" rIns="0" bIns="0" rtlCol="0" anchor="ctr"/>
          <a:lstStyle/>
          <a:p>
            <a:r>
              <a:rPr lang="en-US" sz="1200" b="1" dirty="0"/>
              <a:t>PART 1 — Binary Hurdle (Logistic Regression):  Does Congress produce any ESA listing document at all this month? OR Does Congress cross the threshold from zero attention to any attention at all?</a:t>
            </a:r>
          </a:p>
          <a:p>
            <a:pPr marL="0" indent="0">
              <a:buNone/>
            </a:pPr>
            <a:r>
              <a:rPr lang="en-US" sz="1200" b="1" dirty="0">
                <a:solidFill>
                  <a:srgbClr val="1A1A1A"/>
                </a:solidFill>
              </a:rPr>
              <a:t>P(cong_t &gt; 0) = logistic(α₀ + β₄₀×news_lag + β₃₀×cong_lag)</a:t>
            </a:r>
            <a:r>
              <a:rPr lang="en-US" sz="1200" dirty="0">
                <a:solidFill>
                  <a:srgbClr val="1A1A1A"/>
                </a:solidFill>
              </a:rPr>
              <a:t>          where logistic(x) = exp(x) / (1 + exp(x))</a:t>
            </a:r>
            <a:endParaRPr lang="en-US" sz="1200" dirty="0"/>
          </a:p>
        </p:txBody>
      </p:sp>
      <p:sp>
        <p:nvSpPr>
          <p:cNvPr id="20" name="Text 18"/>
          <p:cNvSpPr/>
          <p:nvPr/>
        </p:nvSpPr>
        <p:spPr>
          <a:xfrm>
            <a:off x="2501679" y="2516141"/>
            <a:ext cx="731520" cy="164592"/>
          </a:xfrm>
          <a:prstGeom prst="rect">
            <a:avLst/>
          </a:prstGeom>
          <a:noFill/>
          <a:ln/>
        </p:spPr>
        <p:txBody>
          <a:bodyPr wrap="square" lIns="0" tIns="0" rIns="0" bIns="0" rtlCol="0" anchor="t"/>
          <a:lstStyle/>
          <a:p>
            <a:pPr marL="0" indent="0">
              <a:buNone/>
            </a:pPr>
            <a:r>
              <a:rPr lang="en-US" sz="950" b="1" dirty="0"/>
              <a:t>Where:</a:t>
            </a:r>
            <a:endParaRPr lang="en-US" sz="950" dirty="0"/>
          </a:p>
        </p:txBody>
      </p:sp>
      <p:sp>
        <p:nvSpPr>
          <p:cNvPr id="21" name="Text 19"/>
          <p:cNvSpPr/>
          <p:nvPr/>
        </p:nvSpPr>
        <p:spPr>
          <a:xfrm>
            <a:off x="2501679" y="2757712"/>
            <a:ext cx="4549140" cy="160020"/>
          </a:xfrm>
          <a:prstGeom prst="rect">
            <a:avLst/>
          </a:prstGeom>
          <a:noFill/>
          <a:ln/>
        </p:spPr>
        <p:txBody>
          <a:bodyPr wrap="square" lIns="0" tIns="0" rIns="0" bIns="0" rtlCol="0" anchor="t"/>
          <a:lstStyle/>
          <a:p>
            <a:pPr marL="0" indent="0">
              <a:buNone/>
            </a:pPr>
            <a:r>
              <a:rPr lang="en-US" sz="900" b="1" dirty="0"/>
              <a:t>α₀</a:t>
            </a:r>
            <a:r>
              <a:rPr lang="en-US" sz="900" dirty="0"/>
              <a:t> </a:t>
            </a:r>
            <a:r>
              <a:rPr lang="en-US" sz="900" dirty="0">
                <a:solidFill>
                  <a:srgbClr val="1A1A1A"/>
                </a:solidFill>
              </a:rPr>
              <a:t>= baseline log-odds of any congressional activity (when both lags = 0)</a:t>
            </a:r>
            <a:endParaRPr lang="en-US" sz="900" dirty="0"/>
          </a:p>
        </p:txBody>
      </p:sp>
      <p:sp>
        <p:nvSpPr>
          <p:cNvPr id="22" name="Text 20"/>
          <p:cNvSpPr/>
          <p:nvPr/>
        </p:nvSpPr>
        <p:spPr>
          <a:xfrm>
            <a:off x="7235190" y="2807606"/>
            <a:ext cx="4549140" cy="160020"/>
          </a:xfrm>
          <a:prstGeom prst="rect">
            <a:avLst/>
          </a:prstGeom>
          <a:noFill/>
          <a:ln/>
        </p:spPr>
        <p:txBody>
          <a:bodyPr wrap="square" lIns="0" tIns="0" rIns="0" bIns="0" rtlCol="0" anchor="t"/>
          <a:lstStyle/>
          <a:p>
            <a:pPr marL="0" indent="0">
              <a:buNone/>
            </a:pPr>
            <a:r>
              <a:rPr lang="en-US" sz="900" b="1" dirty="0"/>
              <a:t>β₄₀</a:t>
            </a:r>
            <a:r>
              <a:rPr lang="en-US" sz="900" dirty="0"/>
              <a:t> </a:t>
            </a:r>
            <a:r>
              <a:rPr lang="en-US" sz="900" dirty="0">
                <a:solidFill>
                  <a:srgbClr val="1A1A1A"/>
                </a:solidFill>
              </a:rPr>
              <a:t>= how each news article changes the log-odds of Congress crossing the attention threshold</a:t>
            </a:r>
            <a:endParaRPr lang="en-US" sz="900" dirty="0"/>
          </a:p>
        </p:txBody>
      </p:sp>
      <p:sp>
        <p:nvSpPr>
          <p:cNvPr id="23" name="Text 21"/>
          <p:cNvSpPr/>
          <p:nvPr/>
        </p:nvSpPr>
        <p:spPr>
          <a:xfrm>
            <a:off x="2480310" y="2960371"/>
            <a:ext cx="4549140" cy="160020"/>
          </a:xfrm>
          <a:prstGeom prst="rect">
            <a:avLst/>
          </a:prstGeom>
          <a:noFill/>
          <a:ln/>
        </p:spPr>
        <p:txBody>
          <a:bodyPr wrap="square" lIns="0" tIns="0" rIns="0" bIns="0" rtlCol="0" anchor="t"/>
          <a:lstStyle/>
          <a:p>
            <a:pPr marL="0" indent="0">
              <a:buNone/>
            </a:pPr>
            <a:r>
              <a:rPr lang="en-US" sz="900" b="1" dirty="0"/>
              <a:t>β₃₀</a:t>
            </a:r>
            <a:r>
              <a:rPr lang="en-US" sz="900" dirty="0"/>
              <a:t> </a:t>
            </a:r>
            <a:r>
              <a:rPr lang="en-US" sz="900" dirty="0">
                <a:solidFill>
                  <a:srgbClr val="1A1A1A"/>
                </a:solidFill>
              </a:rPr>
              <a:t>= how prior congressional activity changes the log-odds of any activity this month</a:t>
            </a:r>
            <a:endParaRPr lang="en-US" sz="900" dirty="0"/>
          </a:p>
        </p:txBody>
      </p:sp>
      <p:sp>
        <p:nvSpPr>
          <p:cNvPr id="24" name="Text 22"/>
          <p:cNvSpPr/>
          <p:nvPr/>
        </p:nvSpPr>
        <p:spPr>
          <a:xfrm>
            <a:off x="7208901" y="3001519"/>
            <a:ext cx="4549140" cy="160020"/>
          </a:xfrm>
          <a:prstGeom prst="rect">
            <a:avLst/>
          </a:prstGeom>
          <a:noFill/>
          <a:ln/>
        </p:spPr>
        <p:txBody>
          <a:bodyPr wrap="square" lIns="0" tIns="0" rIns="0" bIns="0" rtlCol="0" anchor="t"/>
          <a:lstStyle/>
          <a:p>
            <a:pPr marL="0" indent="0">
              <a:buNone/>
            </a:pPr>
            <a:r>
              <a:rPr lang="en-US" sz="900" b="1" dirty="0"/>
              <a:t>logistic()</a:t>
            </a:r>
            <a:r>
              <a:rPr lang="en-US" sz="900" dirty="0"/>
              <a:t> </a:t>
            </a:r>
            <a:r>
              <a:rPr lang="en-US" sz="900" dirty="0">
                <a:solidFill>
                  <a:srgbClr val="1A1A1A"/>
                </a:solidFill>
              </a:rPr>
              <a:t>= converts log-odds to probability (always between 0 and 1)</a:t>
            </a:r>
            <a:endParaRPr lang="en-US" sz="900" dirty="0"/>
          </a:p>
        </p:txBody>
      </p:sp>
      <p:sp>
        <p:nvSpPr>
          <p:cNvPr id="27" name="Shape 25"/>
          <p:cNvSpPr/>
          <p:nvPr/>
        </p:nvSpPr>
        <p:spPr>
          <a:xfrm>
            <a:off x="2468880" y="3502152"/>
            <a:ext cx="9464040" cy="701802"/>
          </a:xfrm>
          <a:prstGeom prst="rect">
            <a:avLst/>
          </a:prstGeom>
          <a:solidFill>
            <a:schemeClr val="accent3">
              <a:lumMod val="40000"/>
              <a:lumOff val="60000"/>
            </a:schemeClr>
          </a:solidFill>
          <a:ln w="12700">
            <a:solidFill>
              <a:srgbClr val="AACCAA"/>
            </a:solidFill>
            <a:prstDash val="solid"/>
          </a:ln>
        </p:spPr>
      </p:sp>
      <p:sp>
        <p:nvSpPr>
          <p:cNvPr id="28" name="Text 26"/>
          <p:cNvSpPr/>
          <p:nvPr/>
        </p:nvSpPr>
        <p:spPr>
          <a:xfrm>
            <a:off x="2468880" y="3502152"/>
            <a:ext cx="9464040" cy="731918"/>
          </a:xfrm>
          <a:prstGeom prst="rect">
            <a:avLst/>
          </a:prstGeom>
          <a:noFill/>
          <a:ln/>
        </p:spPr>
        <p:txBody>
          <a:bodyPr wrap="square" lIns="0" tIns="0" rIns="0" bIns="0" rtlCol="0" anchor="ctr"/>
          <a:lstStyle/>
          <a:p>
            <a:r>
              <a:rPr lang="en-US" sz="1200" b="1" dirty="0"/>
              <a:t> PART 2 — Count Component (Negative Binomial):  How many documents Congress produces, given Congress IS active?</a:t>
            </a:r>
            <a:endParaRPr lang="en-US" sz="1200" dirty="0"/>
          </a:p>
          <a:p>
            <a:pPr marL="0" indent="0">
              <a:buNone/>
            </a:pPr>
            <a:r>
              <a:rPr lang="en-US" sz="1150" b="1" dirty="0">
                <a:solidFill>
                  <a:srgbClr val="1A1A1A"/>
                </a:solidFill>
              </a:rPr>
              <a:t> </a:t>
            </a:r>
            <a:r>
              <a:rPr lang="en-US" sz="1150" b="1" dirty="0" err="1">
                <a:solidFill>
                  <a:srgbClr val="1A1A1A"/>
                </a:solidFill>
              </a:rPr>
              <a:t>cong_t</a:t>
            </a:r>
            <a:r>
              <a:rPr lang="en-US" sz="1150" b="1" dirty="0">
                <a:solidFill>
                  <a:srgbClr val="1A1A1A"/>
                </a:solidFill>
              </a:rPr>
              <a:t> | cong_t &gt; 0  ~  NegBin(μ, θ)
 log(μ) = α₁ + β₄₁×news_lag + β₃₁×cong_lag</a:t>
            </a:r>
            <a:r>
              <a:rPr lang="en-US" sz="1150" dirty="0">
                <a:solidFill>
                  <a:srgbClr val="1A1A1A"/>
                </a:solidFill>
              </a:rPr>
              <a:t>     (estimated from the 12 active months only — 359 structural zeros excluded)</a:t>
            </a:r>
            <a:endParaRPr lang="en-US" sz="1150" dirty="0"/>
          </a:p>
        </p:txBody>
      </p:sp>
      <p:sp>
        <p:nvSpPr>
          <p:cNvPr id="29" name="Shape 27"/>
          <p:cNvSpPr/>
          <p:nvPr/>
        </p:nvSpPr>
        <p:spPr>
          <a:xfrm>
            <a:off x="2468880" y="4215384"/>
            <a:ext cx="9464040" cy="420624"/>
          </a:xfrm>
          <a:prstGeom prst="rect">
            <a:avLst/>
          </a:prstGeom>
          <a:solidFill>
            <a:schemeClr val="accent3">
              <a:lumMod val="40000"/>
              <a:lumOff val="60000"/>
            </a:schemeClr>
          </a:solidFill>
          <a:ln w="12700">
            <a:solidFill>
              <a:srgbClr val="CCBBEE"/>
            </a:solidFill>
            <a:prstDash val="solid"/>
          </a:ln>
        </p:spPr>
      </p:sp>
      <p:sp>
        <p:nvSpPr>
          <p:cNvPr id="30" name="Text 28"/>
          <p:cNvSpPr/>
          <p:nvPr/>
        </p:nvSpPr>
        <p:spPr>
          <a:xfrm>
            <a:off x="2484882" y="4208526"/>
            <a:ext cx="731520" cy="164592"/>
          </a:xfrm>
          <a:prstGeom prst="rect">
            <a:avLst/>
          </a:prstGeom>
          <a:noFill/>
          <a:ln/>
        </p:spPr>
        <p:txBody>
          <a:bodyPr wrap="square" lIns="0" tIns="0" rIns="0" bIns="0" rtlCol="0" anchor="t"/>
          <a:lstStyle/>
          <a:p>
            <a:pPr marL="0" indent="0">
              <a:buNone/>
            </a:pPr>
            <a:r>
              <a:rPr lang="en-US" sz="950" b="1" dirty="0"/>
              <a:t>Where:</a:t>
            </a:r>
            <a:endParaRPr lang="en-US" sz="950" dirty="0"/>
          </a:p>
        </p:txBody>
      </p:sp>
      <p:sp>
        <p:nvSpPr>
          <p:cNvPr id="31" name="Text 29"/>
          <p:cNvSpPr/>
          <p:nvPr/>
        </p:nvSpPr>
        <p:spPr>
          <a:xfrm>
            <a:off x="2468880" y="4327398"/>
            <a:ext cx="4549140" cy="160020"/>
          </a:xfrm>
          <a:prstGeom prst="rect">
            <a:avLst/>
          </a:prstGeom>
          <a:noFill/>
          <a:ln/>
        </p:spPr>
        <p:txBody>
          <a:bodyPr wrap="square" lIns="0" tIns="0" rIns="0" bIns="0" rtlCol="0" anchor="t"/>
          <a:lstStyle/>
          <a:p>
            <a:pPr marL="0" indent="0">
              <a:buNone/>
            </a:pPr>
            <a:r>
              <a:rPr lang="en-US" sz="900" b="1" dirty="0"/>
              <a:t>α₁</a:t>
            </a:r>
            <a:r>
              <a:rPr lang="en-US" sz="900" dirty="0"/>
              <a:t> </a:t>
            </a:r>
            <a:r>
              <a:rPr lang="en-US" sz="900" dirty="0">
                <a:solidFill>
                  <a:srgbClr val="1A1A1A"/>
                </a:solidFill>
              </a:rPr>
              <a:t>= baseline log expected count when Congress IS active</a:t>
            </a:r>
            <a:endParaRPr lang="en-US" sz="900" dirty="0"/>
          </a:p>
        </p:txBody>
      </p:sp>
      <p:sp>
        <p:nvSpPr>
          <p:cNvPr id="32" name="Text 30"/>
          <p:cNvSpPr/>
          <p:nvPr/>
        </p:nvSpPr>
        <p:spPr>
          <a:xfrm>
            <a:off x="7269480" y="4327398"/>
            <a:ext cx="4549140" cy="160020"/>
          </a:xfrm>
          <a:prstGeom prst="rect">
            <a:avLst/>
          </a:prstGeom>
          <a:noFill/>
          <a:ln/>
        </p:spPr>
        <p:txBody>
          <a:bodyPr wrap="square" lIns="0" tIns="0" rIns="0" bIns="0" rtlCol="0" anchor="t"/>
          <a:lstStyle/>
          <a:p>
            <a:pPr marL="0" indent="0">
              <a:buNone/>
            </a:pPr>
            <a:r>
              <a:rPr lang="en-US" sz="900" b="1" dirty="0"/>
              <a:t>β₄₁</a:t>
            </a:r>
            <a:r>
              <a:rPr lang="en-US" sz="900" dirty="0"/>
              <a:t> </a:t>
            </a:r>
            <a:r>
              <a:rPr lang="en-US" sz="900" dirty="0">
                <a:solidFill>
                  <a:srgbClr val="1A1A1A"/>
                </a:solidFill>
              </a:rPr>
              <a:t>= how each news article multiplies the expected count given Congress is already active</a:t>
            </a:r>
            <a:endParaRPr lang="en-US" sz="900" dirty="0"/>
          </a:p>
        </p:txBody>
      </p:sp>
      <p:sp>
        <p:nvSpPr>
          <p:cNvPr id="33" name="Text 31"/>
          <p:cNvSpPr/>
          <p:nvPr/>
        </p:nvSpPr>
        <p:spPr>
          <a:xfrm>
            <a:off x="2468880" y="4487418"/>
            <a:ext cx="4549140" cy="160020"/>
          </a:xfrm>
          <a:prstGeom prst="rect">
            <a:avLst/>
          </a:prstGeom>
          <a:noFill/>
          <a:ln/>
        </p:spPr>
        <p:txBody>
          <a:bodyPr wrap="square" lIns="0" tIns="0" rIns="0" bIns="0" rtlCol="0" anchor="t"/>
          <a:lstStyle/>
          <a:p>
            <a:pPr marL="0" indent="0">
              <a:buNone/>
            </a:pPr>
            <a:r>
              <a:rPr lang="en-US" sz="900" b="1" dirty="0"/>
              <a:t>β₃₁</a:t>
            </a:r>
            <a:r>
              <a:rPr lang="en-US" sz="900" dirty="0"/>
              <a:t> </a:t>
            </a:r>
            <a:r>
              <a:rPr lang="en-US" sz="900" dirty="0">
                <a:solidFill>
                  <a:srgbClr val="1A1A1A"/>
                </a:solidFill>
              </a:rPr>
              <a:t>= persistence — prior activity effect on count intensity</a:t>
            </a:r>
            <a:endParaRPr lang="en-US" sz="900" dirty="0"/>
          </a:p>
        </p:txBody>
      </p:sp>
      <p:sp>
        <p:nvSpPr>
          <p:cNvPr id="34" name="Text 32"/>
          <p:cNvSpPr/>
          <p:nvPr/>
        </p:nvSpPr>
        <p:spPr>
          <a:xfrm>
            <a:off x="7269480" y="4508390"/>
            <a:ext cx="4549140" cy="160020"/>
          </a:xfrm>
          <a:prstGeom prst="rect">
            <a:avLst/>
          </a:prstGeom>
          <a:noFill/>
          <a:ln/>
        </p:spPr>
        <p:txBody>
          <a:bodyPr wrap="square" lIns="0" tIns="0" rIns="0" bIns="0" rtlCol="0" anchor="t"/>
          <a:lstStyle/>
          <a:p>
            <a:pPr marL="0" indent="0">
              <a:buNone/>
            </a:pPr>
            <a:r>
              <a:rPr lang="en-US" sz="900" b="1" dirty="0"/>
              <a:t>θ</a:t>
            </a:r>
            <a:r>
              <a:rPr lang="en-US" sz="900" dirty="0">
                <a:solidFill>
                  <a:srgbClr val="1A1A1A"/>
                </a:solidFill>
              </a:rPr>
              <a:t> = NB dispersion parameter </a:t>
            </a:r>
            <a:endParaRPr lang="en-US" sz="900" dirty="0"/>
          </a:p>
        </p:txBody>
      </p:sp>
      <p:sp>
        <p:nvSpPr>
          <p:cNvPr id="35" name="Shape 33"/>
          <p:cNvSpPr/>
          <p:nvPr/>
        </p:nvSpPr>
        <p:spPr>
          <a:xfrm>
            <a:off x="2468880" y="4890052"/>
            <a:ext cx="9464040" cy="1693628"/>
          </a:xfrm>
          <a:prstGeom prst="rect">
            <a:avLst/>
          </a:prstGeom>
          <a:solidFill>
            <a:schemeClr val="accent3">
              <a:lumMod val="40000"/>
              <a:lumOff val="60000"/>
            </a:schemeClr>
          </a:solidFill>
          <a:ln w="12700">
            <a:solidFill>
              <a:srgbClr val="BBBBDD"/>
            </a:solidFill>
            <a:prstDash val="solid"/>
          </a:ln>
        </p:spPr>
      </p:sp>
      <p:sp>
        <p:nvSpPr>
          <p:cNvPr id="36" name="Text 34"/>
          <p:cNvSpPr/>
          <p:nvPr/>
        </p:nvSpPr>
        <p:spPr>
          <a:xfrm>
            <a:off x="2468880" y="4890052"/>
            <a:ext cx="9464040" cy="1693628"/>
          </a:xfrm>
          <a:prstGeom prst="rect">
            <a:avLst/>
          </a:prstGeom>
          <a:solidFill>
            <a:schemeClr val="accent3">
              <a:lumMod val="40000"/>
              <a:lumOff val="60000"/>
            </a:schemeClr>
          </a:solidFill>
          <a:ln/>
        </p:spPr>
        <p:txBody>
          <a:bodyPr wrap="square" lIns="0" tIns="0" rIns="0" bIns="0" rtlCol="0" anchor="t"/>
          <a:lstStyle/>
          <a:p>
            <a:pPr marL="0" indent="0">
              <a:buNone/>
            </a:pPr>
            <a:endParaRPr lang="en-US" sz="1000" b="1" dirty="0">
              <a:solidFill>
                <a:srgbClr val="1A237E"/>
              </a:solidFill>
            </a:endParaRPr>
          </a:p>
          <a:p>
            <a:pPr marL="0" indent="0">
              <a:buNone/>
            </a:pPr>
            <a:r>
              <a:rPr lang="en-US" sz="1000" b="1" dirty="0"/>
              <a:t>Key coefficients for </a:t>
            </a:r>
            <a:r>
              <a:rPr lang="en-US" sz="1000" b="1" dirty="0" err="1"/>
              <a:t>news_lag</a:t>
            </a:r>
            <a:r>
              <a:rPr lang="en-US" sz="1000" b="1" dirty="0"/>
              <a:t>:</a:t>
            </a:r>
          </a:p>
          <a:p>
            <a:pPr marL="0" indent="0">
              <a:buNone/>
            </a:pPr>
            <a:r>
              <a:rPr lang="en-US" sz="1000" b="1" dirty="0">
                <a:solidFill>
                  <a:srgbClr val="1A237E"/>
                </a:solidFill>
              </a:rPr>
              <a:t>
</a:t>
            </a:r>
            <a:r>
              <a:rPr lang="en-US" sz="1000" b="1" dirty="0"/>
              <a:t>β₄₀</a:t>
            </a:r>
            <a:r>
              <a:rPr lang="en-US" sz="1000" dirty="0"/>
              <a:t> </a:t>
            </a:r>
            <a:r>
              <a:rPr lang="en-US" sz="1000" dirty="0">
                <a:solidFill>
                  <a:srgbClr val="1A1A1A"/>
                </a:solidFill>
              </a:rPr>
              <a:t>(Part 1): Does media coverage increase the probability that ESA listing crosses the congressional attention threshold? </a:t>
            </a:r>
            <a:r>
              <a:rPr lang="en-US" sz="1000" b="1" dirty="0">
                <a:solidFill>
                  <a:srgbClr val="1A1A1A"/>
                </a:solidFill>
              </a:rPr>
              <a:t>OR </a:t>
            </a:r>
            <a:r>
              <a:rPr lang="en-US" sz="1000" dirty="0">
                <a:solidFill>
                  <a:srgbClr val="1A1A1A"/>
                </a:solidFill>
              </a:rPr>
              <a:t>It measures how much each additional news ESA listing article last month shifts the log-odds of crossing the threshold this month
</a:t>
            </a:r>
            <a:endParaRPr lang="en-US" sz="1000" dirty="0"/>
          </a:p>
          <a:p>
            <a:pPr marL="0" indent="0">
              <a:buNone/>
            </a:pPr>
            <a:r>
              <a:rPr lang="en-US" sz="1000" b="1" dirty="0"/>
              <a:t>β₄₁</a:t>
            </a:r>
            <a:r>
              <a:rPr lang="en-US" sz="1000" dirty="0"/>
              <a:t> </a:t>
            </a:r>
            <a:r>
              <a:rPr lang="en-US" sz="1000" dirty="0">
                <a:solidFill>
                  <a:srgbClr val="1A1A1A"/>
                </a:solidFill>
              </a:rPr>
              <a:t>(Part 2): Given Congress is already engaged, does more media coverage produce more documents?</a:t>
            </a:r>
          </a:p>
          <a:p>
            <a:pPr marL="0" indent="0">
              <a:buNone/>
            </a:pPr>
            <a:endParaRPr lang="en-US" sz="1000" dirty="0">
              <a:solidFill>
                <a:srgbClr val="1A1A1A"/>
              </a:solidFill>
            </a:endParaRPr>
          </a:p>
          <a:p>
            <a:pPr marL="171450" indent="-171450">
              <a:buFont typeface="Wingdings" pitchFamily="2" charset="2"/>
              <a:buChar char="Ø"/>
            </a:pPr>
            <a:r>
              <a:rPr lang="en-US" sz="1000" dirty="0">
                <a:solidFill>
                  <a:srgbClr val="1A1A1A"/>
                </a:solidFill>
              </a:rPr>
              <a:t>The threshold is the point at which ESA listing becomes important enough for Congress to actually do something about it. Below the threshold, Congress ignores it completely. Above the threshold, Congress engages.</a:t>
            </a:r>
            <a:endParaRPr lang="en-US" sz="1000" dirty="0"/>
          </a:p>
          <a:p>
            <a:pPr marL="171450" indent="-171450">
              <a:buFont typeface="Wingdings" pitchFamily="2" charset="2"/>
              <a:buChar char="Ø"/>
            </a:pPr>
            <a:r>
              <a:rPr lang="en-US" sz="1000" dirty="0">
                <a:solidFill>
                  <a:srgbClr val="1A1A1A"/>
                </a:solidFill>
              </a:rPr>
              <a:t>The Hurdle model answers both the threshold question and the intensity question simultaneously.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E3A5F"/>
          </a:solidFill>
          <a:ln w="12700">
            <a:solidFill>
              <a:srgbClr val="1E3A5F"/>
            </a:solidFill>
            <a:prstDash val="solid"/>
          </a:ln>
        </p:spPr>
      </p:sp>
      <p:sp>
        <p:nvSpPr>
          <p:cNvPr id="3" name="Shape 1"/>
          <p:cNvSpPr/>
          <p:nvPr/>
        </p:nvSpPr>
        <p:spPr>
          <a:xfrm>
            <a:off x="0" y="5074920"/>
            <a:ext cx="12161520" cy="1783080"/>
          </a:xfrm>
          <a:prstGeom prst="rect">
            <a:avLst/>
          </a:prstGeom>
          <a:solidFill>
            <a:schemeClr val="accent5">
              <a:lumMod val="50000"/>
            </a:schemeClr>
          </a:solidFill>
          <a:ln w="12700">
            <a:solidFill>
              <a:srgbClr val="028090"/>
            </a:solidFill>
            <a:prstDash val="solid"/>
          </a:ln>
        </p:spPr>
      </p:sp>
      <p:sp>
        <p:nvSpPr>
          <p:cNvPr id="5" name="Text 3"/>
          <p:cNvSpPr/>
          <p:nvPr/>
        </p:nvSpPr>
        <p:spPr>
          <a:xfrm>
            <a:off x="502920" y="182880"/>
            <a:ext cx="11247120" cy="68580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Key Findings</a:t>
            </a:r>
            <a:endParaRPr lang="en-US" sz="2200" dirty="0"/>
          </a:p>
        </p:txBody>
      </p:sp>
      <p:sp>
        <p:nvSpPr>
          <p:cNvPr id="6" name="Shape 4"/>
          <p:cNvSpPr/>
          <p:nvPr/>
        </p:nvSpPr>
        <p:spPr>
          <a:xfrm>
            <a:off x="320040" y="1005840"/>
            <a:ext cx="457200" cy="868680"/>
          </a:xfrm>
          <a:prstGeom prst="rect">
            <a:avLst/>
          </a:prstGeom>
          <a:solidFill>
            <a:schemeClr val="accent5">
              <a:lumMod val="50000"/>
            </a:schemeClr>
          </a:solidFill>
          <a:ln w="12700">
            <a:solidFill>
              <a:srgbClr val="1D6B3A"/>
            </a:solidFill>
            <a:prstDash val="solid"/>
          </a:ln>
        </p:spPr>
      </p:sp>
      <p:sp>
        <p:nvSpPr>
          <p:cNvPr id="7" name="Text 5"/>
          <p:cNvSpPr/>
          <p:nvPr/>
        </p:nvSpPr>
        <p:spPr>
          <a:xfrm>
            <a:off x="320040" y="1143000"/>
            <a:ext cx="457200" cy="5486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8" name="Shape 6"/>
          <p:cNvSpPr/>
          <p:nvPr/>
        </p:nvSpPr>
        <p:spPr>
          <a:xfrm>
            <a:off x="795528" y="1005840"/>
            <a:ext cx="10881360" cy="868680"/>
          </a:xfrm>
          <a:prstGeom prst="rect">
            <a:avLst/>
          </a:prstGeom>
          <a:solidFill>
            <a:srgbClr val="FFFFFF">
              <a:alpha val="95000"/>
            </a:srgbClr>
          </a:solidFill>
          <a:ln w="19050">
            <a:solidFill>
              <a:srgbClr val="1D6B3A"/>
            </a:solidFill>
            <a:prstDash val="solid"/>
          </a:ln>
        </p:spPr>
      </p:sp>
      <p:sp>
        <p:nvSpPr>
          <p:cNvPr id="9" name="Text 7"/>
          <p:cNvSpPr/>
          <p:nvPr/>
        </p:nvSpPr>
        <p:spPr>
          <a:xfrm>
            <a:off x="932688" y="1042416"/>
            <a:ext cx="10607040" cy="347472"/>
          </a:xfrm>
          <a:prstGeom prst="rect">
            <a:avLst/>
          </a:prstGeom>
          <a:noFill/>
          <a:ln/>
        </p:spPr>
        <p:txBody>
          <a:bodyPr wrap="square" rtlCol="0" anchor="ctr"/>
          <a:lstStyle/>
          <a:p>
            <a:pPr marL="0" indent="0">
              <a:buNone/>
            </a:pPr>
            <a:r>
              <a:rPr lang="en-US" sz="1300" b="1" dirty="0">
                <a:latin typeface="Arial" pitchFamily="34" charset="0"/>
                <a:ea typeface="Arial" pitchFamily="34" charset="-122"/>
                <a:cs typeface="Arial" pitchFamily="34" charset="-120"/>
              </a:rPr>
              <a:t>β₄ is positive in both OLS and Poisson</a:t>
            </a:r>
            <a:endParaRPr lang="en-US" sz="1300" dirty="0"/>
          </a:p>
        </p:txBody>
      </p:sp>
      <p:sp>
        <p:nvSpPr>
          <p:cNvPr id="10" name="Text 8"/>
          <p:cNvSpPr/>
          <p:nvPr/>
        </p:nvSpPr>
        <p:spPr>
          <a:xfrm>
            <a:off x="932688" y="1408176"/>
            <a:ext cx="10607040" cy="429768"/>
          </a:xfrm>
          <a:prstGeom prst="rect">
            <a:avLst/>
          </a:prstGeom>
          <a:noFill/>
          <a:ln/>
        </p:spPr>
        <p:txBody>
          <a:bodyPr wrap="square" rtlCol="0" anchor="ctr"/>
          <a:lstStyle/>
          <a:p>
            <a:pPr marL="0" indent="0">
              <a:buNone/>
            </a:pPr>
            <a:r>
              <a:rPr lang="en-US" sz="1150" dirty="0">
                <a:solidFill>
                  <a:srgbClr val="EAEAEA"/>
                </a:solidFill>
                <a:latin typeface="Arial" pitchFamily="34" charset="0"/>
                <a:ea typeface="Arial" pitchFamily="34" charset="-122"/>
                <a:cs typeface="Arial" pitchFamily="34" charset="-120"/>
              </a:rPr>
              <a:t>Media coverage last month predicts congressional activity this month — confirmed by both models. Each extra news article roughly doubles the expected count (exp(β₄)=2.04).</a:t>
            </a:r>
            <a:endParaRPr lang="en-US" sz="1150" dirty="0"/>
          </a:p>
        </p:txBody>
      </p:sp>
      <p:sp>
        <p:nvSpPr>
          <p:cNvPr id="11" name="Shape 9"/>
          <p:cNvSpPr/>
          <p:nvPr/>
        </p:nvSpPr>
        <p:spPr>
          <a:xfrm>
            <a:off x="320040" y="1993392"/>
            <a:ext cx="457200" cy="868680"/>
          </a:xfrm>
          <a:prstGeom prst="rect">
            <a:avLst/>
          </a:prstGeom>
          <a:solidFill>
            <a:schemeClr val="accent5">
              <a:lumMod val="50000"/>
            </a:schemeClr>
          </a:solidFill>
          <a:ln w="12700">
            <a:solidFill>
              <a:srgbClr val="8B1A1A"/>
            </a:solidFill>
            <a:prstDash val="solid"/>
          </a:ln>
        </p:spPr>
      </p:sp>
      <p:sp>
        <p:nvSpPr>
          <p:cNvPr id="12" name="Text 10"/>
          <p:cNvSpPr/>
          <p:nvPr/>
        </p:nvSpPr>
        <p:spPr>
          <a:xfrm>
            <a:off x="320040" y="2130552"/>
            <a:ext cx="457200" cy="5486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Shape 11"/>
          <p:cNvSpPr/>
          <p:nvPr/>
        </p:nvSpPr>
        <p:spPr>
          <a:xfrm>
            <a:off x="795528" y="1993392"/>
            <a:ext cx="10881360" cy="868680"/>
          </a:xfrm>
          <a:prstGeom prst="rect">
            <a:avLst/>
          </a:prstGeom>
          <a:solidFill>
            <a:srgbClr val="FFFFFF">
              <a:alpha val="95000"/>
            </a:srgbClr>
          </a:solidFill>
          <a:ln w="19050">
            <a:solidFill>
              <a:srgbClr val="8B1A1A"/>
            </a:solidFill>
            <a:prstDash val="solid"/>
          </a:ln>
        </p:spPr>
      </p:sp>
      <p:sp>
        <p:nvSpPr>
          <p:cNvPr id="14" name="Text 12"/>
          <p:cNvSpPr/>
          <p:nvPr/>
        </p:nvSpPr>
        <p:spPr>
          <a:xfrm>
            <a:off x="932688" y="2029968"/>
            <a:ext cx="10607040" cy="347472"/>
          </a:xfrm>
          <a:prstGeom prst="rect">
            <a:avLst/>
          </a:prstGeom>
          <a:noFill/>
          <a:ln/>
        </p:spPr>
        <p:txBody>
          <a:bodyPr wrap="square" rtlCol="0" anchor="ctr"/>
          <a:lstStyle/>
          <a:p>
            <a:pPr marL="0" indent="0">
              <a:buNone/>
            </a:pPr>
            <a:r>
              <a:rPr lang="en-US" sz="1300" b="1" dirty="0">
                <a:latin typeface="Arial" pitchFamily="34" charset="0"/>
                <a:ea typeface="Arial" pitchFamily="34" charset="-122"/>
                <a:cs typeface="Arial" pitchFamily="34" charset="-120"/>
              </a:rPr>
              <a:t>OLS is misspecified — must be rejected</a:t>
            </a:r>
            <a:endParaRPr lang="en-US" sz="1300" dirty="0"/>
          </a:p>
        </p:txBody>
      </p:sp>
      <p:sp>
        <p:nvSpPr>
          <p:cNvPr id="15" name="Text 13"/>
          <p:cNvSpPr/>
          <p:nvPr/>
        </p:nvSpPr>
        <p:spPr>
          <a:xfrm>
            <a:off x="932688" y="2395728"/>
            <a:ext cx="10607040" cy="429768"/>
          </a:xfrm>
          <a:prstGeom prst="rect">
            <a:avLst/>
          </a:prstGeom>
          <a:noFill/>
          <a:ln/>
        </p:spPr>
        <p:txBody>
          <a:bodyPr wrap="square" rtlCol="0" anchor="ctr"/>
          <a:lstStyle/>
          <a:p>
            <a:pPr marL="0" indent="0">
              <a:buNone/>
            </a:pPr>
            <a:r>
              <a:rPr lang="en-US" sz="1150" dirty="0">
                <a:solidFill>
                  <a:srgbClr val="EAEAEA"/>
                </a:solidFill>
                <a:latin typeface="Arial" pitchFamily="34" charset="0"/>
                <a:ea typeface="Arial" pitchFamily="34" charset="-122"/>
                <a:cs typeface="Arial" pitchFamily="34" charset="-120"/>
              </a:rPr>
              <a:t>OLS predicts 0.242 congressional documents — an impossible fraction. The wrong model produces untrustworthy results regardless of what it finds.</a:t>
            </a:r>
            <a:endParaRPr lang="en-US" sz="1150" dirty="0"/>
          </a:p>
        </p:txBody>
      </p:sp>
      <p:sp>
        <p:nvSpPr>
          <p:cNvPr id="16" name="Shape 14"/>
          <p:cNvSpPr/>
          <p:nvPr/>
        </p:nvSpPr>
        <p:spPr>
          <a:xfrm>
            <a:off x="320040" y="2980944"/>
            <a:ext cx="457200" cy="868680"/>
          </a:xfrm>
          <a:prstGeom prst="rect">
            <a:avLst/>
          </a:prstGeom>
          <a:solidFill>
            <a:schemeClr val="accent5">
              <a:lumMod val="50000"/>
            </a:schemeClr>
          </a:solidFill>
          <a:ln w="12700">
            <a:solidFill>
              <a:srgbClr val="BA7517"/>
            </a:solidFill>
            <a:prstDash val="solid"/>
          </a:ln>
        </p:spPr>
      </p:sp>
      <p:sp>
        <p:nvSpPr>
          <p:cNvPr id="17" name="Text 15"/>
          <p:cNvSpPr/>
          <p:nvPr/>
        </p:nvSpPr>
        <p:spPr>
          <a:xfrm>
            <a:off x="320040" y="3118104"/>
            <a:ext cx="457200" cy="5486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8" name="Shape 16"/>
          <p:cNvSpPr/>
          <p:nvPr/>
        </p:nvSpPr>
        <p:spPr>
          <a:xfrm>
            <a:off x="795528" y="2980944"/>
            <a:ext cx="10881360" cy="868680"/>
          </a:xfrm>
          <a:prstGeom prst="rect">
            <a:avLst/>
          </a:prstGeom>
          <a:solidFill>
            <a:srgbClr val="FFFFFF">
              <a:alpha val="95000"/>
            </a:srgbClr>
          </a:solidFill>
          <a:ln w="19050">
            <a:solidFill>
              <a:srgbClr val="BA7517"/>
            </a:solidFill>
            <a:prstDash val="solid"/>
          </a:ln>
        </p:spPr>
      </p:sp>
      <p:sp>
        <p:nvSpPr>
          <p:cNvPr id="19" name="Text 17"/>
          <p:cNvSpPr/>
          <p:nvPr/>
        </p:nvSpPr>
        <p:spPr>
          <a:xfrm>
            <a:off x="932688" y="3017520"/>
            <a:ext cx="10607040" cy="347472"/>
          </a:xfrm>
          <a:prstGeom prst="rect">
            <a:avLst/>
          </a:prstGeom>
          <a:noFill/>
          <a:ln/>
        </p:spPr>
        <p:txBody>
          <a:bodyPr wrap="square" rtlCol="0" anchor="ctr"/>
          <a:lstStyle/>
          <a:p>
            <a:pPr marL="0" indent="0">
              <a:buNone/>
            </a:pPr>
            <a:r>
              <a:rPr lang="en-US" sz="1300" b="1" dirty="0">
                <a:latin typeface="Arial" pitchFamily="34" charset="0"/>
                <a:ea typeface="Arial" pitchFamily="34" charset="-122"/>
                <a:cs typeface="Arial" pitchFamily="34" charset="-120"/>
              </a:rPr>
              <a:t>Overdispersion confirmed (Var/Mean = 2.25)</a:t>
            </a:r>
            <a:endParaRPr lang="en-US" sz="1300" dirty="0"/>
          </a:p>
        </p:txBody>
      </p:sp>
      <p:sp>
        <p:nvSpPr>
          <p:cNvPr id="20" name="Text 18"/>
          <p:cNvSpPr/>
          <p:nvPr/>
        </p:nvSpPr>
        <p:spPr>
          <a:xfrm>
            <a:off x="932688" y="3383280"/>
            <a:ext cx="10607040" cy="429768"/>
          </a:xfrm>
          <a:prstGeom prst="rect">
            <a:avLst/>
          </a:prstGeom>
          <a:noFill/>
          <a:ln/>
        </p:spPr>
        <p:txBody>
          <a:bodyPr wrap="square" rtlCol="0" anchor="ctr"/>
          <a:lstStyle/>
          <a:p>
            <a:pPr marL="0" indent="0">
              <a:buNone/>
            </a:pPr>
            <a:r>
              <a:rPr lang="en-US" sz="1150" dirty="0">
                <a:solidFill>
                  <a:srgbClr val="EAEAEA"/>
                </a:solidFill>
                <a:latin typeface="Arial" pitchFamily="34" charset="0"/>
                <a:ea typeface="Arial" pitchFamily="34" charset="-122"/>
                <a:cs typeface="Arial" pitchFamily="34" charset="-120"/>
              </a:rPr>
              <a:t>Poisson assumes Var=Mean. This is violated. Standard Poisson underestimates uncertainty and assigns unrealistically low probability to extreme months.</a:t>
            </a:r>
            <a:endParaRPr lang="en-US" sz="1150" dirty="0"/>
          </a:p>
        </p:txBody>
      </p:sp>
      <p:sp>
        <p:nvSpPr>
          <p:cNvPr id="21" name="Shape 19"/>
          <p:cNvSpPr/>
          <p:nvPr/>
        </p:nvSpPr>
        <p:spPr>
          <a:xfrm>
            <a:off x="320040" y="3968496"/>
            <a:ext cx="457200" cy="868680"/>
          </a:xfrm>
          <a:prstGeom prst="rect">
            <a:avLst/>
          </a:prstGeom>
          <a:solidFill>
            <a:schemeClr val="accent5">
              <a:lumMod val="50000"/>
            </a:schemeClr>
          </a:solidFill>
          <a:ln w="12700">
            <a:solidFill>
              <a:srgbClr val="028090"/>
            </a:solidFill>
            <a:prstDash val="solid"/>
          </a:ln>
        </p:spPr>
      </p:sp>
      <p:sp>
        <p:nvSpPr>
          <p:cNvPr id="22" name="Text 20"/>
          <p:cNvSpPr/>
          <p:nvPr/>
        </p:nvSpPr>
        <p:spPr>
          <a:xfrm>
            <a:off x="320040" y="4105656"/>
            <a:ext cx="457200" cy="5486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3" name="Shape 21"/>
          <p:cNvSpPr/>
          <p:nvPr/>
        </p:nvSpPr>
        <p:spPr>
          <a:xfrm>
            <a:off x="795528" y="3968496"/>
            <a:ext cx="10881360" cy="868680"/>
          </a:xfrm>
          <a:prstGeom prst="rect">
            <a:avLst/>
          </a:prstGeom>
          <a:solidFill>
            <a:srgbClr val="FFFFFF">
              <a:alpha val="95000"/>
            </a:srgbClr>
          </a:solidFill>
          <a:ln w="19050">
            <a:solidFill>
              <a:srgbClr val="028090"/>
            </a:solidFill>
            <a:prstDash val="solid"/>
          </a:ln>
        </p:spPr>
      </p:sp>
      <p:sp>
        <p:nvSpPr>
          <p:cNvPr id="24" name="Text 22"/>
          <p:cNvSpPr/>
          <p:nvPr/>
        </p:nvSpPr>
        <p:spPr>
          <a:xfrm>
            <a:off x="932688" y="4005072"/>
            <a:ext cx="10607040" cy="347472"/>
          </a:xfrm>
          <a:prstGeom prst="rect">
            <a:avLst/>
          </a:prstGeom>
          <a:noFill/>
          <a:ln/>
        </p:spPr>
        <p:txBody>
          <a:bodyPr wrap="square" rtlCol="0" anchor="ctr"/>
          <a:lstStyle/>
          <a:p>
            <a:pPr marL="0" indent="0">
              <a:buNone/>
            </a:pPr>
            <a:r>
              <a:rPr lang="en-US" sz="1300" b="1" dirty="0">
                <a:latin typeface="Arial" pitchFamily="34" charset="0"/>
                <a:ea typeface="Arial" pitchFamily="34" charset="-122"/>
                <a:cs typeface="Arial" pitchFamily="34" charset="-120"/>
              </a:rPr>
              <a:t>97% structural zeros require hurdle model</a:t>
            </a:r>
            <a:endParaRPr lang="en-US" sz="1300" dirty="0"/>
          </a:p>
        </p:txBody>
      </p:sp>
      <p:sp>
        <p:nvSpPr>
          <p:cNvPr id="25" name="Text 23"/>
          <p:cNvSpPr/>
          <p:nvPr/>
        </p:nvSpPr>
        <p:spPr>
          <a:xfrm>
            <a:off x="932688" y="4370832"/>
            <a:ext cx="10607040" cy="429768"/>
          </a:xfrm>
          <a:prstGeom prst="rect">
            <a:avLst/>
          </a:prstGeom>
          <a:noFill/>
          <a:ln/>
        </p:spPr>
        <p:txBody>
          <a:bodyPr wrap="square" rtlCol="0" anchor="ctr"/>
          <a:lstStyle/>
          <a:p>
            <a:pPr marL="0" indent="0">
              <a:buNone/>
            </a:pPr>
            <a:r>
              <a:rPr lang="en-US" sz="1150" dirty="0">
                <a:solidFill>
                  <a:srgbClr val="EAEAEA"/>
                </a:solidFill>
                <a:latin typeface="Arial" pitchFamily="34" charset="0"/>
                <a:ea typeface="Arial" pitchFamily="34" charset="-122"/>
                <a:cs typeface="Arial" pitchFamily="34" charset="-120"/>
              </a:rPr>
              <a:t>Congress is silent in 97% of months. A hurdle model separates structural silence from the count process — the right model for this data structure.</a:t>
            </a:r>
            <a:endParaRPr lang="en-US" sz="1150" dirty="0"/>
          </a:p>
        </p:txBody>
      </p:sp>
      <p:sp>
        <p:nvSpPr>
          <p:cNvPr id="27" name="Text 25"/>
          <p:cNvSpPr/>
          <p:nvPr/>
        </p:nvSpPr>
        <p:spPr>
          <a:xfrm>
            <a:off x="502920" y="5623560"/>
            <a:ext cx="8299174"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OLS  →  Poisson (baseline)  →  Negative Binomial (overdispersion)  →  Hurdle Model (structural zeros)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4195</TotalTime>
  <Words>1337</Words>
  <Application>Microsoft Macintosh PowerPoint</Application>
  <PresentationFormat>Widescreen</PresentationFormat>
  <Paragraphs>174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Methods — ESA Agenda-Setting Analysis</dc:title>
  <dc:subject>PptxGenJS Presentation</dc:subject>
  <dc:creator>PptxGenJS</dc:creator>
  <cp:lastModifiedBy>Agnes Namyalo</cp:lastModifiedBy>
  <cp:revision>6</cp:revision>
  <dcterms:created xsi:type="dcterms:W3CDTF">2026-06-01T18:57:47Z</dcterms:created>
  <dcterms:modified xsi:type="dcterms:W3CDTF">2026-06-04T18:55:00Z</dcterms:modified>
</cp:coreProperties>
</file>